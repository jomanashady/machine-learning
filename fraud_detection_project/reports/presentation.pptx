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Lulu Font TH" charset="1" panose="02000503000000000000"/>
      <p:regular r:id="rId17"/>
    </p:embeddedFont>
    <p:embeddedFont>
      <p:font typeface="Best light" charset="1" panose="02000603090000020003"/>
      <p:regular r:id="rId18"/>
    </p:embeddedFont>
    <p:embeddedFont>
      <p:font typeface="JetBrains Mono Bold" charset="1" panose="02010809030102050004"/>
      <p:regular r:id="rId19"/>
    </p:embeddedFont>
    <p:embeddedFont>
      <p:font typeface="JetBrains Mono Medium" charset="1" panose="02010609020102050004"/>
      <p:regular r:id="rId20"/>
    </p:embeddedFont>
    <p:embeddedFont>
      <p:font typeface="Garet Bold" charset="1" panose="00000000000000000000"/>
      <p:regular r:id="rId21"/>
    </p:embeddedFont>
    <p:embeddedFont>
      <p:font typeface="JetBrains Mono Ultra-Bold" charset="1" panose="02010909030102050004"/>
      <p:regular r:id="rId22"/>
    </p:embeddedFont>
    <p:embeddedFont>
      <p:font typeface="Poppins" charset="1" panose="00000500000000000000"/>
      <p:regular r:id="rId23"/>
    </p:embeddedFont>
    <p:embeddedFont>
      <p:font typeface="Garet Heavy" charset="1" panose="00000000000000000000"/>
      <p:regular r:id="rId24"/>
    </p:embeddedFont>
    <p:embeddedFont>
      <p:font typeface="JetBrains Mono" charset="1" panose="02010509020102050004"/>
      <p:regular r:id="rId25"/>
    </p:embeddedFont>
    <p:embeddedFont>
      <p:font typeface="Proxima Nova Bold Italics" charset="1" panose="02000506030000020004"/>
      <p:regular r:id="rId26"/>
    </p:embeddedFont>
    <p:embeddedFont>
      <p:font typeface="Poppins Ultra-Bold" charset="1" panose="00000900000000000000"/>
      <p:regular r:id="rId27"/>
    </p:embeddedFont>
    <p:embeddedFont>
      <p:font typeface="Poppins Medium" charset="1" panose="00000600000000000000"/>
      <p:regular r:id="rId28"/>
    </p:embeddedFont>
    <p:embeddedFont>
      <p:font typeface="Poppins Heavy" charset="1" panose="00000A0000000000000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media/image25.png" Type="http://schemas.openxmlformats.org/officeDocument/2006/relationships/image"/><Relationship Id="rId9" Target="../media/image2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svg" Type="http://schemas.openxmlformats.org/officeDocument/2006/relationships/image"/><Relationship Id="rId4" Target="../media/image29.png" Type="http://schemas.openxmlformats.org/officeDocument/2006/relationships/image"/><Relationship Id="rId5" Target="../media/image3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9.png" Type="http://schemas.openxmlformats.org/officeDocument/2006/relationships/image"/><Relationship Id="rId11" Target="../media/image40.svg" Type="http://schemas.openxmlformats.org/officeDocument/2006/relationships/image"/><Relationship Id="rId2" Target="../media/image31.png" Type="http://schemas.openxmlformats.org/officeDocument/2006/relationships/image"/><Relationship Id="rId3" Target="../media/image32.svg" Type="http://schemas.openxmlformats.org/officeDocument/2006/relationships/image"/><Relationship Id="rId4" Target="../media/image33.png" Type="http://schemas.openxmlformats.org/officeDocument/2006/relationships/image"/><Relationship Id="rId5" Target="../media/image34.svg" Type="http://schemas.openxmlformats.org/officeDocument/2006/relationships/image"/><Relationship Id="rId6" Target="../media/image35.png" Type="http://schemas.openxmlformats.org/officeDocument/2006/relationships/image"/><Relationship Id="rId7" Target="../media/image36.svg" Type="http://schemas.openxmlformats.org/officeDocument/2006/relationships/image"/><Relationship Id="rId8" Target="../media/image37.png" Type="http://schemas.openxmlformats.org/officeDocument/2006/relationships/image"/><Relationship Id="rId9" Target="../media/image3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9.png" Type="http://schemas.openxmlformats.org/officeDocument/2006/relationships/image"/><Relationship Id="rId11" Target="../media/image50.svg" Type="http://schemas.openxmlformats.org/officeDocument/2006/relationships/image"/><Relationship Id="rId12" Target="../media/image51.png" Type="http://schemas.openxmlformats.org/officeDocument/2006/relationships/image"/><Relationship Id="rId13" Target="../media/image52.svg" Type="http://schemas.openxmlformats.org/officeDocument/2006/relationships/image"/><Relationship Id="rId2" Target="../media/image41.png" Type="http://schemas.openxmlformats.org/officeDocument/2006/relationships/image"/><Relationship Id="rId3" Target="../media/image42.svg" Type="http://schemas.openxmlformats.org/officeDocument/2006/relationships/image"/><Relationship Id="rId4" Target="../media/image43.png" Type="http://schemas.openxmlformats.org/officeDocument/2006/relationships/image"/><Relationship Id="rId5" Target="../media/image44.svg" Type="http://schemas.openxmlformats.org/officeDocument/2006/relationships/image"/><Relationship Id="rId6" Target="../media/image45.png" Type="http://schemas.openxmlformats.org/officeDocument/2006/relationships/image"/><Relationship Id="rId7" Target="../media/image46.svg" Type="http://schemas.openxmlformats.org/officeDocument/2006/relationships/image"/><Relationship Id="rId8" Target="../media/image47.png" Type="http://schemas.openxmlformats.org/officeDocument/2006/relationships/image"/><Relationship Id="rId9" Target="../media/image4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3.png" Type="http://schemas.openxmlformats.org/officeDocument/2006/relationships/image"/><Relationship Id="rId3" Target="../media/image54.svg" Type="http://schemas.openxmlformats.org/officeDocument/2006/relationships/image"/><Relationship Id="rId4" Target="../media/image55.png" Type="http://schemas.openxmlformats.org/officeDocument/2006/relationships/image"/><Relationship Id="rId5" Target="../media/image56.svg" Type="http://schemas.openxmlformats.org/officeDocument/2006/relationships/image"/><Relationship Id="rId6" Target="../media/image5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Relationship Id="rId3" Target="../media/image42.svg" Type="http://schemas.openxmlformats.org/officeDocument/2006/relationships/image"/><Relationship Id="rId4" Target="../media/image5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Relationship Id="rId3" Target="../media/image42.svg" Type="http://schemas.openxmlformats.org/officeDocument/2006/relationships/image"/><Relationship Id="rId4" Target="../media/image59.png" Type="http://schemas.openxmlformats.org/officeDocument/2006/relationships/image"/><Relationship Id="rId5" Target="../media/image60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1.png" Type="http://schemas.openxmlformats.org/officeDocument/2006/relationships/image"/><Relationship Id="rId3" Target="../media/image62.svg" Type="http://schemas.openxmlformats.org/officeDocument/2006/relationships/image"/><Relationship Id="rId4" Target="../media/image6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311950" y="-3881489"/>
            <a:ext cx="8098534" cy="5954130"/>
          </a:xfrm>
          <a:custGeom>
            <a:avLst/>
            <a:gdLst/>
            <a:ahLst/>
            <a:cxnLst/>
            <a:rect r="r" b="b" t="t" l="l"/>
            <a:pathLst>
              <a:path h="5954130" w="8098534">
                <a:moveTo>
                  <a:pt x="0" y="0"/>
                </a:moveTo>
                <a:lnTo>
                  <a:pt x="8098534" y="0"/>
                </a:lnTo>
                <a:lnTo>
                  <a:pt x="8098534" y="5954130"/>
                </a:lnTo>
                <a:lnTo>
                  <a:pt x="0" y="59541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5624586" y="1745548"/>
            <a:ext cx="289966" cy="544630"/>
            <a:chOff x="0" y="0"/>
            <a:chExt cx="386621" cy="72617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1937" y="508"/>
              <a:ext cx="384651" cy="725678"/>
            </a:xfrm>
            <a:custGeom>
              <a:avLst/>
              <a:gdLst/>
              <a:ahLst/>
              <a:cxnLst/>
              <a:rect r="r" b="b" t="t" l="l"/>
              <a:pathLst>
                <a:path h="725678" w="384651">
                  <a:moveTo>
                    <a:pt x="16859" y="0"/>
                  </a:moveTo>
                  <a:cubicBezTo>
                    <a:pt x="12160" y="0"/>
                    <a:pt x="7461" y="3175"/>
                    <a:pt x="4286" y="8890"/>
                  </a:cubicBezTo>
                  <a:cubicBezTo>
                    <a:pt x="-1429" y="15113"/>
                    <a:pt x="-1429" y="21463"/>
                    <a:pt x="4286" y="27686"/>
                  </a:cubicBezTo>
                  <a:cubicBezTo>
                    <a:pt x="209899" y="308229"/>
                    <a:pt x="353282" y="706882"/>
                    <a:pt x="365855" y="713105"/>
                  </a:cubicBezTo>
                  <a:cubicBezTo>
                    <a:pt x="353282" y="725678"/>
                    <a:pt x="372078" y="725678"/>
                    <a:pt x="378428" y="725678"/>
                  </a:cubicBezTo>
                  <a:cubicBezTo>
                    <a:pt x="384651" y="713105"/>
                    <a:pt x="384651" y="706882"/>
                    <a:pt x="384651" y="700532"/>
                  </a:cubicBezTo>
                  <a:cubicBezTo>
                    <a:pt x="384651" y="694182"/>
                    <a:pt x="235045" y="289306"/>
                    <a:pt x="29432" y="8890"/>
                  </a:cubicBezTo>
                  <a:cubicBezTo>
                    <a:pt x="26257" y="3175"/>
                    <a:pt x="21558" y="0"/>
                    <a:pt x="16859" y="0"/>
                  </a:cubicBezTo>
                  <a:close/>
                </a:path>
              </a:pathLst>
            </a:custGeom>
            <a:solidFill>
              <a:srgbClr val="FEF8E9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25269482" y="1968812"/>
            <a:ext cx="331950" cy="452420"/>
            <a:chOff x="0" y="0"/>
            <a:chExt cx="442600" cy="60322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508" y="0"/>
              <a:ext cx="438944" cy="602615"/>
            </a:xfrm>
            <a:custGeom>
              <a:avLst/>
              <a:gdLst/>
              <a:ahLst/>
              <a:cxnLst/>
              <a:rect r="r" b="b" t="t" l="l"/>
              <a:pathLst>
                <a:path h="602615" w="438944">
                  <a:moveTo>
                    <a:pt x="420116" y="0"/>
                  </a:moveTo>
                  <a:cubicBezTo>
                    <a:pt x="416941" y="0"/>
                    <a:pt x="413893" y="1524"/>
                    <a:pt x="410718" y="4699"/>
                  </a:cubicBezTo>
                  <a:cubicBezTo>
                    <a:pt x="392430" y="10922"/>
                    <a:pt x="93218" y="259969"/>
                    <a:pt x="0" y="583819"/>
                  </a:cubicBezTo>
                  <a:cubicBezTo>
                    <a:pt x="0" y="590042"/>
                    <a:pt x="0" y="596392"/>
                    <a:pt x="12065" y="602615"/>
                  </a:cubicBezTo>
                  <a:cubicBezTo>
                    <a:pt x="12065" y="596392"/>
                    <a:pt x="18288" y="596392"/>
                    <a:pt x="30861" y="596392"/>
                  </a:cubicBezTo>
                  <a:lnTo>
                    <a:pt x="37084" y="590169"/>
                  </a:lnTo>
                  <a:cubicBezTo>
                    <a:pt x="130683" y="278892"/>
                    <a:pt x="429514" y="29845"/>
                    <a:pt x="429514" y="29845"/>
                  </a:cubicBezTo>
                  <a:cubicBezTo>
                    <a:pt x="442087" y="23622"/>
                    <a:pt x="442087" y="11049"/>
                    <a:pt x="429514" y="4699"/>
                  </a:cubicBezTo>
                  <a:cubicBezTo>
                    <a:pt x="426339" y="1524"/>
                    <a:pt x="423291" y="0"/>
                    <a:pt x="420116" y="0"/>
                  </a:cubicBezTo>
                  <a:close/>
                </a:path>
              </a:pathLst>
            </a:custGeom>
            <a:solidFill>
              <a:srgbClr val="FEF8E9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24713717" y="5284657"/>
            <a:ext cx="242806" cy="116856"/>
            <a:chOff x="0" y="0"/>
            <a:chExt cx="323741" cy="15580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494" y="66"/>
              <a:ext cx="323345" cy="155268"/>
            </a:xfrm>
            <a:custGeom>
              <a:avLst/>
              <a:gdLst/>
              <a:ahLst/>
              <a:cxnLst/>
              <a:rect r="r" b="b" t="t" l="l"/>
              <a:pathLst>
                <a:path h="155268" w="323345">
                  <a:moveTo>
                    <a:pt x="3316" y="143952"/>
                  </a:moveTo>
                  <a:cubicBezTo>
                    <a:pt x="60085" y="115504"/>
                    <a:pt x="119013" y="89215"/>
                    <a:pt x="178703" y="62545"/>
                  </a:cubicBezTo>
                  <a:cubicBezTo>
                    <a:pt x="223788" y="42352"/>
                    <a:pt x="269381" y="22032"/>
                    <a:pt x="314720" y="569"/>
                  </a:cubicBezTo>
                  <a:cubicBezTo>
                    <a:pt x="317641" y="-828"/>
                    <a:pt x="321197" y="442"/>
                    <a:pt x="322721" y="3363"/>
                  </a:cubicBezTo>
                  <a:cubicBezTo>
                    <a:pt x="324245" y="6284"/>
                    <a:pt x="322848" y="9840"/>
                    <a:pt x="319927" y="11364"/>
                  </a:cubicBezTo>
                  <a:cubicBezTo>
                    <a:pt x="274334" y="32954"/>
                    <a:pt x="228614" y="53274"/>
                    <a:pt x="183656" y="73467"/>
                  </a:cubicBezTo>
                  <a:cubicBezTo>
                    <a:pt x="123839" y="100137"/>
                    <a:pt x="65165" y="126299"/>
                    <a:pt x="8650" y="154620"/>
                  </a:cubicBezTo>
                  <a:cubicBezTo>
                    <a:pt x="5729" y="156144"/>
                    <a:pt x="2173" y="154874"/>
                    <a:pt x="649" y="151953"/>
                  </a:cubicBezTo>
                  <a:cubicBezTo>
                    <a:pt x="-875" y="149032"/>
                    <a:pt x="395" y="145476"/>
                    <a:pt x="3316" y="143952"/>
                  </a:cubicBezTo>
                  <a:close/>
                </a:path>
              </a:pathLst>
            </a:custGeom>
            <a:solidFill>
              <a:srgbClr val="2AB59D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737317" y="2932376"/>
            <a:ext cx="5662200" cy="544800"/>
            <a:chOff x="0" y="0"/>
            <a:chExt cx="7549600" cy="726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549642" cy="726440"/>
            </a:xfrm>
            <a:custGeom>
              <a:avLst/>
              <a:gdLst/>
              <a:ahLst/>
              <a:cxnLst/>
              <a:rect r="r" b="b" t="t" l="l"/>
              <a:pathLst>
                <a:path h="726440" w="7549642">
                  <a:moveTo>
                    <a:pt x="0" y="363220"/>
                  </a:moveTo>
                  <a:cubicBezTo>
                    <a:pt x="0" y="162560"/>
                    <a:pt x="162560" y="0"/>
                    <a:pt x="363220" y="0"/>
                  </a:cubicBezTo>
                  <a:lnTo>
                    <a:pt x="7186422" y="0"/>
                  </a:lnTo>
                  <a:cubicBezTo>
                    <a:pt x="7386955" y="0"/>
                    <a:pt x="7549642" y="162560"/>
                    <a:pt x="7549642" y="363220"/>
                  </a:cubicBezTo>
                  <a:cubicBezTo>
                    <a:pt x="7549642" y="563880"/>
                    <a:pt x="7387082" y="726440"/>
                    <a:pt x="7186422" y="726440"/>
                  </a:cubicBezTo>
                  <a:lnTo>
                    <a:pt x="363220" y="726440"/>
                  </a:lnTo>
                  <a:cubicBezTo>
                    <a:pt x="162560" y="726440"/>
                    <a:pt x="0" y="563753"/>
                    <a:pt x="0" y="363220"/>
                  </a:cubicBezTo>
                  <a:close/>
                </a:path>
              </a:pathLst>
            </a:custGeom>
            <a:solidFill>
              <a:srgbClr val="C7E7F9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975445" y="1106398"/>
            <a:ext cx="7704000" cy="4734137"/>
            <a:chOff x="0" y="0"/>
            <a:chExt cx="10272000" cy="631218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272000" cy="6312183"/>
            </a:xfrm>
            <a:custGeom>
              <a:avLst/>
              <a:gdLst/>
              <a:ahLst/>
              <a:cxnLst/>
              <a:rect r="r" b="b" t="t" l="l"/>
              <a:pathLst>
                <a:path h="6312183" w="10272000">
                  <a:moveTo>
                    <a:pt x="0" y="0"/>
                  </a:moveTo>
                  <a:lnTo>
                    <a:pt x="10272000" y="0"/>
                  </a:lnTo>
                  <a:lnTo>
                    <a:pt x="10272000" y="6312183"/>
                  </a:lnTo>
                  <a:lnTo>
                    <a:pt x="0" y="631218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10272000" cy="6312183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8040"/>
                </a:lnSpc>
              </a:pPr>
              <a:r>
                <a:rPr lang="en-US" sz="6700">
                  <a:solidFill>
                    <a:srgbClr val="263238"/>
                  </a:solidFill>
                  <a:latin typeface="Lulu Font TH"/>
                  <a:ea typeface="Lulu Font TH"/>
                  <a:cs typeface="Lulu Font TH"/>
                  <a:sym typeface="Lulu Font TH"/>
                </a:rPr>
                <a:t>HEALTHCA</a:t>
              </a:r>
              <a:r>
                <a:rPr lang="en-US" sz="6700">
                  <a:solidFill>
                    <a:srgbClr val="263238"/>
                  </a:solidFill>
                  <a:latin typeface="Lulu Font TH"/>
                  <a:ea typeface="Lulu Font TH"/>
                  <a:cs typeface="Lulu Font TH"/>
                  <a:sym typeface="Lulu Font TH"/>
                </a:rPr>
                <a:t>RE</a:t>
              </a:r>
            </a:p>
            <a:p>
              <a:pPr algn="l">
                <a:lnSpc>
                  <a:spcPts val="8040"/>
                </a:lnSpc>
              </a:pPr>
              <a:r>
                <a:rPr lang="en-US" sz="6700">
                  <a:solidFill>
                    <a:srgbClr val="263238"/>
                  </a:solidFill>
                  <a:latin typeface="Lulu Font TH"/>
                  <a:ea typeface="Lulu Font TH"/>
                  <a:cs typeface="Lulu Font TH"/>
                  <a:sym typeface="Lulu Font TH"/>
                </a:rPr>
                <a:t>PROVIDER FRAUD DETECTION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9144000" y="1588928"/>
            <a:ext cx="7268145" cy="6320036"/>
          </a:xfrm>
          <a:custGeom>
            <a:avLst/>
            <a:gdLst/>
            <a:ahLst/>
            <a:cxnLst/>
            <a:rect r="r" b="b" t="t" l="l"/>
            <a:pathLst>
              <a:path h="6320036" w="7268145">
                <a:moveTo>
                  <a:pt x="0" y="0"/>
                </a:moveTo>
                <a:lnTo>
                  <a:pt x="7268145" y="0"/>
                </a:lnTo>
                <a:lnTo>
                  <a:pt x="7268145" y="6320035"/>
                </a:lnTo>
                <a:lnTo>
                  <a:pt x="0" y="63200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1115794" y="6123538"/>
            <a:ext cx="3405785" cy="3968605"/>
          </a:xfrm>
          <a:custGeom>
            <a:avLst/>
            <a:gdLst/>
            <a:ahLst/>
            <a:cxnLst/>
            <a:rect r="r" b="b" t="t" l="l"/>
            <a:pathLst>
              <a:path h="3968605" w="3405785">
                <a:moveTo>
                  <a:pt x="0" y="0"/>
                </a:moveTo>
                <a:lnTo>
                  <a:pt x="3405784" y="0"/>
                </a:lnTo>
                <a:lnTo>
                  <a:pt x="3405784" y="3968605"/>
                </a:lnTo>
                <a:lnTo>
                  <a:pt x="0" y="3968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975445" y="5373810"/>
            <a:ext cx="7075069" cy="3807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27"/>
              </a:lnSpc>
            </a:pPr>
            <a:r>
              <a:rPr lang="en-US" sz="4199">
                <a:solidFill>
                  <a:srgbClr val="263238"/>
                </a:solidFill>
                <a:latin typeface="Best light"/>
                <a:ea typeface="Best light"/>
                <a:cs typeface="Best light"/>
                <a:sym typeface="Best light"/>
              </a:rPr>
              <a:t>Presented By:</a:t>
            </a:r>
          </a:p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263238"/>
                </a:solidFill>
                <a:latin typeface="Lulu Font TH"/>
                <a:ea typeface="Lulu Font TH"/>
                <a:cs typeface="Lulu Font TH"/>
                <a:sym typeface="Lulu Font TH"/>
              </a:rPr>
              <a:t>Rawda Tarek 13003438</a:t>
            </a:r>
          </a:p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263238"/>
                </a:solidFill>
                <a:latin typeface="Lulu Font TH"/>
                <a:ea typeface="Lulu Font TH"/>
                <a:cs typeface="Lulu Font TH"/>
                <a:sym typeface="Lulu Font TH"/>
              </a:rPr>
              <a:t>Jomana Shady 13001659</a:t>
            </a:r>
          </a:p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263238"/>
                </a:solidFill>
                <a:latin typeface="Lulu Font TH"/>
                <a:ea typeface="Lulu Font TH"/>
                <a:cs typeface="Lulu Font TH"/>
                <a:sym typeface="Lulu Font TH"/>
              </a:rPr>
              <a:t>Karma Kandil 13001164</a:t>
            </a:r>
          </a:p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263238"/>
                </a:solidFill>
                <a:latin typeface="Lulu Font TH"/>
                <a:ea typeface="Lulu Font TH"/>
                <a:cs typeface="Lulu Font TH"/>
                <a:sym typeface="Lulu Font TH"/>
              </a:rPr>
              <a:t>Mohamed Haytham 2000388</a:t>
            </a:r>
          </a:p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263238"/>
                </a:solidFill>
                <a:latin typeface="Lulu Font TH"/>
                <a:ea typeface="Lulu Font TH"/>
                <a:cs typeface="Lulu Font TH"/>
                <a:sym typeface="Lulu Font TH"/>
              </a:rPr>
              <a:t>Omar Abdelhady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04116" y="-666759"/>
            <a:ext cx="14022984" cy="10306152"/>
          </a:xfrm>
          <a:custGeom>
            <a:avLst/>
            <a:gdLst/>
            <a:ahLst/>
            <a:cxnLst/>
            <a:rect r="r" b="b" t="t" l="l"/>
            <a:pathLst>
              <a:path h="10306152" w="14022984">
                <a:moveTo>
                  <a:pt x="0" y="0"/>
                </a:moveTo>
                <a:lnTo>
                  <a:pt x="14022984" y="0"/>
                </a:lnTo>
                <a:lnTo>
                  <a:pt x="14022984" y="10306152"/>
                </a:lnTo>
                <a:lnTo>
                  <a:pt x="0" y="103061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74245" y="2413153"/>
            <a:ext cx="6641400" cy="544800"/>
            <a:chOff x="0" y="0"/>
            <a:chExt cx="8855200" cy="726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855201" cy="726440"/>
            </a:xfrm>
            <a:custGeom>
              <a:avLst/>
              <a:gdLst/>
              <a:ahLst/>
              <a:cxnLst/>
              <a:rect r="r" b="b" t="t" l="l"/>
              <a:pathLst>
                <a:path h="726440" w="8855201">
                  <a:moveTo>
                    <a:pt x="0" y="363220"/>
                  </a:moveTo>
                  <a:cubicBezTo>
                    <a:pt x="0" y="162560"/>
                    <a:pt x="162560" y="0"/>
                    <a:pt x="363220" y="0"/>
                  </a:cubicBezTo>
                  <a:lnTo>
                    <a:pt x="8491982" y="0"/>
                  </a:lnTo>
                  <a:cubicBezTo>
                    <a:pt x="8692514" y="0"/>
                    <a:pt x="8855201" y="162560"/>
                    <a:pt x="8855201" y="363220"/>
                  </a:cubicBezTo>
                  <a:cubicBezTo>
                    <a:pt x="8855201" y="563880"/>
                    <a:pt x="8692642" y="726440"/>
                    <a:pt x="8491982" y="726440"/>
                  </a:cubicBezTo>
                  <a:lnTo>
                    <a:pt x="363220" y="726440"/>
                  </a:lnTo>
                  <a:cubicBezTo>
                    <a:pt x="162560" y="726440"/>
                    <a:pt x="0" y="563753"/>
                    <a:pt x="0" y="363220"/>
                  </a:cubicBezTo>
                  <a:close/>
                </a:path>
              </a:pathLst>
            </a:custGeom>
            <a:solidFill>
              <a:srgbClr val="C7E7F9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1306337" y="2957953"/>
            <a:ext cx="5952963" cy="5382003"/>
          </a:xfrm>
          <a:custGeom>
            <a:avLst/>
            <a:gdLst/>
            <a:ahLst/>
            <a:cxnLst/>
            <a:rect r="r" b="b" t="t" l="l"/>
            <a:pathLst>
              <a:path h="5382003" w="5952963">
                <a:moveTo>
                  <a:pt x="0" y="0"/>
                </a:moveTo>
                <a:lnTo>
                  <a:pt x="5952963" y="0"/>
                </a:lnTo>
                <a:lnTo>
                  <a:pt x="5952963" y="5382003"/>
                </a:lnTo>
                <a:lnTo>
                  <a:pt x="0" y="53820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307376" y="2413153"/>
            <a:ext cx="2471018" cy="1115126"/>
          </a:xfrm>
          <a:custGeom>
            <a:avLst/>
            <a:gdLst/>
            <a:ahLst/>
            <a:cxnLst/>
            <a:rect r="r" b="b" t="t" l="l"/>
            <a:pathLst>
              <a:path h="1115126" w="2471018">
                <a:moveTo>
                  <a:pt x="0" y="0"/>
                </a:moveTo>
                <a:lnTo>
                  <a:pt x="2471018" y="0"/>
                </a:lnTo>
                <a:lnTo>
                  <a:pt x="2471018" y="1115126"/>
                </a:lnTo>
                <a:lnTo>
                  <a:pt x="0" y="11151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74245" y="1939192"/>
            <a:ext cx="6313839" cy="2037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40"/>
              </a:lnSpc>
            </a:pPr>
            <a:r>
              <a:rPr lang="en-US" sz="6700">
                <a:solidFill>
                  <a:srgbClr val="263238"/>
                </a:solidFill>
                <a:latin typeface="Lulu Font TH"/>
                <a:ea typeface="Lulu Font TH"/>
                <a:cs typeface="Lulu Font TH"/>
                <a:sym typeface="Lulu Font TH"/>
              </a:rPr>
              <a:t>Heal</a:t>
            </a:r>
            <a:r>
              <a:rPr lang="en-US" sz="6700">
                <a:solidFill>
                  <a:srgbClr val="263238"/>
                </a:solidFill>
                <a:latin typeface="Lulu Font TH"/>
                <a:ea typeface="Lulu Font TH"/>
                <a:cs typeface="Lulu Font TH"/>
                <a:sym typeface="Lulu Font TH"/>
              </a:rPr>
              <a:t>thcare Fraud Costs: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74245" y="5143500"/>
            <a:ext cx="10198913" cy="2070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b="true" sz="2799">
                <a:solidFill>
                  <a:srgbClr val="263238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Annual losses: $68+ billi</a:t>
            </a:r>
            <a:r>
              <a:rPr lang="en-US" b="true" sz="2799">
                <a:solidFill>
                  <a:srgbClr val="263238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on to U.S. healthcare system</a:t>
            </a: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b="true" sz="2799">
                <a:solidFill>
                  <a:srgbClr val="263238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Only 1-2% of suspicious cases investigated</a:t>
            </a: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b="true" sz="2799">
                <a:solidFill>
                  <a:srgbClr val="263238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Traditional rule-based systems fail to detect sophisticated fraud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44610" y="1593085"/>
            <a:ext cx="7516558" cy="354363"/>
            <a:chOff x="0" y="0"/>
            <a:chExt cx="15408000" cy="72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08021" cy="726440"/>
            </a:xfrm>
            <a:custGeom>
              <a:avLst/>
              <a:gdLst/>
              <a:ahLst/>
              <a:cxnLst/>
              <a:rect r="r" b="b" t="t" l="l"/>
              <a:pathLst>
                <a:path h="726440" w="15408021">
                  <a:moveTo>
                    <a:pt x="0" y="363220"/>
                  </a:moveTo>
                  <a:cubicBezTo>
                    <a:pt x="0" y="162560"/>
                    <a:pt x="162560" y="0"/>
                    <a:pt x="363220" y="0"/>
                  </a:cubicBezTo>
                  <a:lnTo>
                    <a:pt x="15044801" y="0"/>
                  </a:lnTo>
                  <a:cubicBezTo>
                    <a:pt x="15245335" y="0"/>
                    <a:pt x="15408021" y="162560"/>
                    <a:pt x="15408021" y="363220"/>
                  </a:cubicBezTo>
                  <a:cubicBezTo>
                    <a:pt x="15408021" y="563880"/>
                    <a:pt x="15245462" y="726440"/>
                    <a:pt x="15044801" y="726440"/>
                  </a:cubicBezTo>
                  <a:lnTo>
                    <a:pt x="363220" y="726440"/>
                  </a:lnTo>
                  <a:cubicBezTo>
                    <a:pt x="162560" y="726440"/>
                    <a:pt x="0" y="563753"/>
                    <a:pt x="0" y="363220"/>
                  </a:cubicBezTo>
                  <a:close/>
                </a:path>
              </a:pathLst>
            </a:custGeom>
            <a:solidFill>
              <a:srgbClr val="C7E7F9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2238747" y="2417433"/>
            <a:ext cx="9927390" cy="10855894"/>
          </a:xfrm>
          <a:custGeom>
            <a:avLst/>
            <a:gdLst/>
            <a:ahLst/>
            <a:cxnLst/>
            <a:rect r="r" b="b" t="t" l="l"/>
            <a:pathLst>
              <a:path h="10855894" w="9927390">
                <a:moveTo>
                  <a:pt x="0" y="0"/>
                </a:moveTo>
                <a:lnTo>
                  <a:pt x="9927390" y="0"/>
                </a:lnTo>
                <a:lnTo>
                  <a:pt x="9927390" y="10855894"/>
                </a:lnTo>
                <a:lnTo>
                  <a:pt x="0" y="108558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453505" y="1809963"/>
            <a:ext cx="353073" cy="7236398"/>
          </a:xfrm>
          <a:custGeom>
            <a:avLst/>
            <a:gdLst/>
            <a:ahLst/>
            <a:cxnLst/>
            <a:rect r="r" b="b" t="t" l="l"/>
            <a:pathLst>
              <a:path h="7236398" w="353073">
                <a:moveTo>
                  <a:pt x="0" y="0"/>
                </a:moveTo>
                <a:lnTo>
                  <a:pt x="353073" y="0"/>
                </a:lnTo>
                <a:lnTo>
                  <a:pt x="353073" y="7236398"/>
                </a:lnTo>
                <a:lnTo>
                  <a:pt x="0" y="72363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9397128" y="1593085"/>
            <a:ext cx="7516558" cy="354363"/>
            <a:chOff x="0" y="0"/>
            <a:chExt cx="15408000" cy="726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408021" cy="726440"/>
            </a:xfrm>
            <a:custGeom>
              <a:avLst/>
              <a:gdLst/>
              <a:ahLst/>
              <a:cxnLst/>
              <a:rect r="r" b="b" t="t" l="l"/>
              <a:pathLst>
                <a:path h="726440" w="15408021">
                  <a:moveTo>
                    <a:pt x="0" y="363220"/>
                  </a:moveTo>
                  <a:cubicBezTo>
                    <a:pt x="0" y="162560"/>
                    <a:pt x="162560" y="0"/>
                    <a:pt x="363220" y="0"/>
                  </a:cubicBezTo>
                  <a:lnTo>
                    <a:pt x="15044801" y="0"/>
                  </a:lnTo>
                  <a:cubicBezTo>
                    <a:pt x="15245335" y="0"/>
                    <a:pt x="15408021" y="162560"/>
                    <a:pt x="15408021" y="363220"/>
                  </a:cubicBezTo>
                  <a:cubicBezTo>
                    <a:pt x="15408021" y="563880"/>
                    <a:pt x="15245462" y="726440"/>
                    <a:pt x="15044801" y="726440"/>
                  </a:cubicBezTo>
                  <a:lnTo>
                    <a:pt x="363220" y="726440"/>
                  </a:lnTo>
                  <a:cubicBezTo>
                    <a:pt x="162560" y="726440"/>
                    <a:pt x="0" y="563753"/>
                    <a:pt x="0" y="363220"/>
                  </a:cubicBezTo>
                  <a:close/>
                </a:path>
              </a:pathLst>
            </a:custGeom>
            <a:solidFill>
              <a:srgbClr val="C7E7F9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2045489" y="4657747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608402" y="254454"/>
            <a:ext cx="2955581" cy="3031625"/>
          </a:xfrm>
          <a:custGeom>
            <a:avLst/>
            <a:gdLst/>
            <a:ahLst/>
            <a:cxnLst/>
            <a:rect r="r" b="b" t="t" l="l"/>
            <a:pathLst>
              <a:path h="3031625" w="2955581">
                <a:moveTo>
                  <a:pt x="0" y="0"/>
                </a:moveTo>
                <a:lnTo>
                  <a:pt x="2955581" y="0"/>
                </a:lnTo>
                <a:lnTo>
                  <a:pt x="2955581" y="3031625"/>
                </a:lnTo>
                <a:lnTo>
                  <a:pt x="0" y="30316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44610" y="2218334"/>
            <a:ext cx="7516558" cy="2236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5348" indent="-317674" lvl="1">
              <a:lnSpc>
                <a:spcPts val="3531"/>
              </a:lnSpc>
              <a:buFont typeface="Arial"/>
              <a:buChar char="•"/>
            </a:pPr>
            <a:r>
              <a:rPr lang="en-US" b="true" sz="2942">
                <a:solidFill>
                  <a:srgbClr val="263238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Manual review processes</a:t>
            </a:r>
          </a:p>
          <a:p>
            <a:pPr algn="l" marL="635348" indent="-317674" lvl="1">
              <a:lnSpc>
                <a:spcPts val="3531"/>
              </a:lnSpc>
              <a:buFont typeface="Arial"/>
              <a:buChar char="•"/>
            </a:pPr>
            <a:r>
              <a:rPr lang="en-US" b="true" sz="2942">
                <a:solidFill>
                  <a:srgbClr val="263238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Basic rule-based detection</a:t>
            </a:r>
          </a:p>
          <a:p>
            <a:pPr algn="l" marL="635348" indent="-317674" lvl="1">
              <a:lnSpc>
                <a:spcPts val="3531"/>
              </a:lnSpc>
              <a:buFont typeface="Arial"/>
              <a:buChar char="•"/>
            </a:pPr>
            <a:r>
              <a:rPr lang="en-US" b="true" sz="2942">
                <a:solidFill>
                  <a:srgbClr val="263238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High false positive rates</a:t>
            </a:r>
          </a:p>
          <a:p>
            <a:pPr algn="l" marL="635348" indent="-317674" lvl="1">
              <a:lnSpc>
                <a:spcPts val="3531"/>
              </a:lnSpc>
              <a:buFont typeface="Arial"/>
              <a:buChar char="•"/>
            </a:pPr>
            <a:r>
              <a:rPr lang="en-US" b="true" sz="2942">
                <a:solidFill>
                  <a:srgbClr val="263238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Limited scalability</a:t>
            </a:r>
          </a:p>
          <a:p>
            <a:pPr algn="l" marL="1270697" indent="-423566" lvl="2">
              <a:lnSpc>
                <a:spcPts val="3531"/>
              </a:lnSpc>
              <a:buFont typeface="Arial"/>
              <a:buChar char="⚬"/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436035" y="1004110"/>
            <a:ext cx="6778021" cy="969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79"/>
              </a:lnSpc>
            </a:pPr>
            <a:r>
              <a:rPr lang="en-US" sz="6399">
                <a:solidFill>
                  <a:srgbClr val="263238"/>
                </a:solidFill>
                <a:latin typeface="Lulu Font TH"/>
                <a:ea typeface="Lulu Font TH"/>
                <a:cs typeface="Lulu Font TH"/>
                <a:sym typeface="Lulu Font TH"/>
              </a:rPr>
              <a:t>C</a:t>
            </a:r>
            <a:r>
              <a:rPr lang="en-US" sz="6399">
                <a:solidFill>
                  <a:srgbClr val="263238"/>
                </a:solidFill>
                <a:latin typeface="Lulu Font TH"/>
                <a:ea typeface="Lulu Font TH"/>
                <a:cs typeface="Lulu Font TH"/>
                <a:sym typeface="Lulu Font TH"/>
              </a:rPr>
              <a:t>urrent Limitations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397128" y="3357510"/>
            <a:ext cx="7151843" cy="4141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799">
                <a:solidFill>
                  <a:srgbClr val="263238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Develop an intelligent, data-driven fraud detection s</a:t>
            </a:r>
            <a:r>
              <a:rPr lang="en-US" b="true" sz="2799">
                <a:solidFill>
                  <a:srgbClr val="263238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ystem that can:</a:t>
            </a:r>
          </a:p>
          <a:p>
            <a:pPr algn="l" marL="604520" indent="-302260" lvl="1">
              <a:lnSpc>
                <a:spcPts val="3359"/>
              </a:lnSpc>
              <a:buFont typeface="Arial"/>
              <a:buChar char="•"/>
            </a:pPr>
            <a:r>
              <a:rPr lang="en-US" b="true" sz="2799">
                <a:solidFill>
                  <a:srgbClr val="263238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Identify high-risk providers accurately</a:t>
            </a: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b="true" sz="2799">
                <a:solidFill>
                  <a:srgbClr val="263238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Minimize false positives</a:t>
            </a: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b="true" sz="2799">
                <a:solidFill>
                  <a:srgbClr val="263238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Provide explainable predictions</a:t>
            </a: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b="true" sz="2799">
                <a:solidFill>
                  <a:srgbClr val="263238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Scale across Medicare network</a:t>
            </a:r>
          </a:p>
          <a:p>
            <a:pPr algn="l" marL="955040" indent="-477520" lvl="1">
              <a:lnSpc>
                <a:spcPts val="3359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9488553" y="1004110"/>
            <a:ext cx="4100668" cy="1938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79"/>
              </a:lnSpc>
            </a:pPr>
            <a:r>
              <a:rPr lang="en-US" sz="6399">
                <a:solidFill>
                  <a:srgbClr val="263238"/>
                </a:solidFill>
                <a:latin typeface="Lulu Font TH"/>
                <a:ea typeface="Lulu Font TH"/>
                <a:cs typeface="Lulu Font TH"/>
                <a:sym typeface="Lulu Font TH"/>
              </a:rPr>
              <a:t>O</a:t>
            </a:r>
            <a:r>
              <a:rPr lang="en-US" sz="6399">
                <a:solidFill>
                  <a:srgbClr val="263238"/>
                </a:solidFill>
                <a:latin typeface="Lulu Font TH"/>
                <a:ea typeface="Lulu Font TH"/>
                <a:cs typeface="Lulu Font TH"/>
                <a:sym typeface="Lulu Font TH"/>
              </a:rPr>
              <a:t>ur Mission</a:t>
            </a:r>
          </a:p>
          <a:p>
            <a:pPr algn="l">
              <a:lnSpc>
                <a:spcPts val="7680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21648" y="1875457"/>
            <a:ext cx="7248714" cy="341736"/>
            <a:chOff x="0" y="0"/>
            <a:chExt cx="15408000" cy="72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08021" cy="726440"/>
            </a:xfrm>
            <a:custGeom>
              <a:avLst/>
              <a:gdLst/>
              <a:ahLst/>
              <a:cxnLst/>
              <a:rect r="r" b="b" t="t" l="l"/>
              <a:pathLst>
                <a:path h="726440" w="15408021">
                  <a:moveTo>
                    <a:pt x="0" y="363220"/>
                  </a:moveTo>
                  <a:cubicBezTo>
                    <a:pt x="0" y="162560"/>
                    <a:pt x="162560" y="0"/>
                    <a:pt x="363220" y="0"/>
                  </a:cubicBezTo>
                  <a:lnTo>
                    <a:pt x="15044801" y="0"/>
                  </a:lnTo>
                  <a:cubicBezTo>
                    <a:pt x="15245335" y="0"/>
                    <a:pt x="15408021" y="162560"/>
                    <a:pt x="15408021" y="363220"/>
                  </a:cubicBezTo>
                  <a:cubicBezTo>
                    <a:pt x="15408021" y="563880"/>
                    <a:pt x="15245462" y="726440"/>
                    <a:pt x="15044801" y="726440"/>
                  </a:cubicBezTo>
                  <a:lnTo>
                    <a:pt x="363220" y="726440"/>
                  </a:lnTo>
                  <a:cubicBezTo>
                    <a:pt x="162560" y="726440"/>
                    <a:pt x="0" y="563753"/>
                    <a:pt x="0" y="363220"/>
                  </a:cubicBezTo>
                  <a:close/>
                </a:path>
              </a:pathLst>
            </a:custGeom>
            <a:solidFill>
              <a:srgbClr val="C7E7F9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5423716" y="-3744880"/>
            <a:ext cx="8098534" cy="5954130"/>
          </a:xfrm>
          <a:custGeom>
            <a:avLst/>
            <a:gdLst/>
            <a:ahLst/>
            <a:cxnLst/>
            <a:rect r="r" b="b" t="t" l="l"/>
            <a:pathLst>
              <a:path h="5954130" w="8098534">
                <a:moveTo>
                  <a:pt x="0" y="0"/>
                </a:moveTo>
                <a:lnTo>
                  <a:pt x="8098534" y="0"/>
                </a:lnTo>
                <a:lnTo>
                  <a:pt x="8098534" y="5954130"/>
                </a:lnTo>
                <a:lnTo>
                  <a:pt x="0" y="59541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163064" y="265149"/>
            <a:ext cx="3619822" cy="3673516"/>
          </a:xfrm>
          <a:custGeom>
            <a:avLst/>
            <a:gdLst/>
            <a:ahLst/>
            <a:cxnLst/>
            <a:rect r="r" b="b" t="t" l="l"/>
            <a:pathLst>
              <a:path h="3673516" w="3619822">
                <a:moveTo>
                  <a:pt x="0" y="0"/>
                </a:moveTo>
                <a:lnTo>
                  <a:pt x="3619823" y="0"/>
                </a:lnTo>
                <a:lnTo>
                  <a:pt x="3619823" y="3673516"/>
                </a:lnTo>
                <a:lnTo>
                  <a:pt x="0" y="36735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359328" y="977451"/>
            <a:ext cx="3227295" cy="2551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2"/>
              </a:lnSpc>
            </a:pPr>
            <a:r>
              <a:rPr lang="en-US" sz="2117" b="true">
                <a:solidFill>
                  <a:srgbClr val="428CE4"/>
                </a:solidFill>
                <a:latin typeface="Garet Bold"/>
                <a:ea typeface="Garet Bold"/>
                <a:cs typeface="Garet Bold"/>
                <a:sym typeface="Garet Bold"/>
              </a:rPr>
              <a:t>Class</a:t>
            </a:r>
            <a:r>
              <a:rPr lang="en-US" b="true" sz="2117">
                <a:solidFill>
                  <a:srgbClr val="428CE4"/>
                </a:solidFill>
                <a:latin typeface="Garet Bold"/>
                <a:ea typeface="Garet Bold"/>
                <a:cs typeface="Garet Bold"/>
                <a:sym typeface="Garet Bold"/>
              </a:rPr>
              <a:t> Imbalance</a:t>
            </a:r>
          </a:p>
          <a:p>
            <a:pPr algn="l" marL="447903" indent="-223952" lvl="1">
              <a:lnSpc>
                <a:spcPts val="2904"/>
              </a:lnSpc>
              <a:buFont typeface="Arial"/>
              <a:buChar char="•"/>
            </a:pPr>
            <a:r>
              <a:rPr lang="en-US" b="true" sz="2074">
                <a:solidFill>
                  <a:srgbClr val="428CE4"/>
                </a:solidFill>
                <a:latin typeface="Garet Bold"/>
                <a:ea typeface="Garet Bold"/>
                <a:cs typeface="Garet Bold"/>
                <a:sym typeface="Garet Bold"/>
              </a:rPr>
              <a:t>Fraudulent providers:10% (506)</a:t>
            </a:r>
          </a:p>
          <a:p>
            <a:pPr algn="l" marL="447903" indent="-223952" lvl="1">
              <a:lnSpc>
                <a:spcPts val="2904"/>
              </a:lnSpc>
              <a:buFont typeface="Arial"/>
              <a:buChar char="•"/>
            </a:pPr>
            <a:r>
              <a:rPr lang="en-US" b="true" sz="2074">
                <a:solidFill>
                  <a:srgbClr val="428CE4"/>
                </a:solidFill>
                <a:latin typeface="Garet Bold"/>
                <a:ea typeface="Garet Bold"/>
                <a:cs typeface="Garet Bold"/>
                <a:sym typeface="Garet Bold"/>
              </a:rPr>
              <a:t>Non-fraudulent providers:90% (4,904)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3138821" y="433695"/>
            <a:ext cx="2495828" cy="1928594"/>
          </a:xfrm>
          <a:custGeom>
            <a:avLst/>
            <a:gdLst/>
            <a:ahLst/>
            <a:cxnLst/>
            <a:rect r="r" b="b" t="t" l="l"/>
            <a:pathLst>
              <a:path h="1928594" w="2495828">
                <a:moveTo>
                  <a:pt x="0" y="0"/>
                </a:moveTo>
                <a:lnTo>
                  <a:pt x="2495828" y="0"/>
                </a:lnTo>
                <a:lnTo>
                  <a:pt x="2495828" y="1928594"/>
                </a:lnTo>
                <a:lnTo>
                  <a:pt x="0" y="192859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774986" y="3529067"/>
            <a:ext cx="1659678" cy="1659678"/>
            <a:chOff x="0" y="0"/>
            <a:chExt cx="2623000" cy="2623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623058" cy="2623058"/>
            </a:xfrm>
            <a:custGeom>
              <a:avLst/>
              <a:gdLst/>
              <a:ahLst/>
              <a:cxnLst/>
              <a:rect r="r" b="b" t="t" l="l"/>
              <a:pathLst>
                <a:path h="2623058" w="2623058">
                  <a:moveTo>
                    <a:pt x="0" y="1311529"/>
                  </a:moveTo>
                  <a:cubicBezTo>
                    <a:pt x="0" y="587121"/>
                    <a:pt x="587121" y="0"/>
                    <a:pt x="1311529" y="0"/>
                  </a:cubicBezTo>
                  <a:lnTo>
                    <a:pt x="1311529" y="12700"/>
                  </a:lnTo>
                  <a:lnTo>
                    <a:pt x="1311529" y="0"/>
                  </a:lnTo>
                  <a:cubicBezTo>
                    <a:pt x="2035810" y="0"/>
                    <a:pt x="2623058" y="587121"/>
                    <a:pt x="2623058" y="1311529"/>
                  </a:cubicBezTo>
                  <a:lnTo>
                    <a:pt x="2610358" y="1311529"/>
                  </a:lnTo>
                  <a:lnTo>
                    <a:pt x="2623058" y="1311529"/>
                  </a:lnTo>
                  <a:cubicBezTo>
                    <a:pt x="2623058" y="2035810"/>
                    <a:pt x="2035937" y="2623058"/>
                    <a:pt x="1311529" y="2623058"/>
                  </a:cubicBezTo>
                  <a:lnTo>
                    <a:pt x="1311529" y="2610358"/>
                  </a:lnTo>
                  <a:lnTo>
                    <a:pt x="1311529" y="2623058"/>
                  </a:lnTo>
                  <a:cubicBezTo>
                    <a:pt x="587121" y="2623058"/>
                    <a:pt x="0" y="2035810"/>
                    <a:pt x="0" y="1311529"/>
                  </a:cubicBezTo>
                  <a:lnTo>
                    <a:pt x="12700" y="1311529"/>
                  </a:lnTo>
                  <a:lnTo>
                    <a:pt x="25400" y="1311529"/>
                  </a:lnTo>
                  <a:lnTo>
                    <a:pt x="12700" y="1311529"/>
                  </a:lnTo>
                  <a:lnTo>
                    <a:pt x="0" y="1311529"/>
                  </a:lnTo>
                  <a:moveTo>
                    <a:pt x="25400" y="1311529"/>
                  </a:moveTo>
                  <a:cubicBezTo>
                    <a:pt x="25400" y="1318514"/>
                    <a:pt x="19685" y="1324229"/>
                    <a:pt x="12700" y="1324229"/>
                  </a:cubicBezTo>
                  <a:cubicBezTo>
                    <a:pt x="5715" y="1324229"/>
                    <a:pt x="0" y="1318514"/>
                    <a:pt x="0" y="1311529"/>
                  </a:cubicBezTo>
                  <a:cubicBezTo>
                    <a:pt x="0" y="1304544"/>
                    <a:pt x="5715" y="1298829"/>
                    <a:pt x="12700" y="1298829"/>
                  </a:cubicBezTo>
                  <a:cubicBezTo>
                    <a:pt x="19685" y="1298829"/>
                    <a:pt x="25400" y="1304544"/>
                    <a:pt x="25400" y="1311529"/>
                  </a:cubicBezTo>
                  <a:cubicBezTo>
                    <a:pt x="25400" y="2021840"/>
                    <a:pt x="601218" y="2597658"/>
                    <a:pt x="1311529" y="2597658"/>
                  </a:cubicBezTo>
                  <a:cubicBezTo>
                    <a:pt x="2021840" y="2597658"/>
                    <a:pt x="2597658" y="2021840"/>
                    <a:pt x="2597658" y="1311529"/>
                  </a:cubicBezTo>
                  <a:cubicBezTo>
                    <a:pt x="2597658" y="601218"/>
                    <a:pt x="2021840" y="25400"/>
                    <a:pt x="1311529" y="25400"/>
                  </a:cubicBezTo>
                  <a:lnTo>
                    <a:pt x="1311529" y="12700"/>
                  </a:lnTo>
                  <a:lnTo>
                    <a:pt x="1311529" y="25400"/>
                  </a:lnTo>
                  <a:cubicBezTo>
                    <a:pt x="601218" y="25400"/>
                    <a:pt x="25400" y="601218"/>
                    <a:pt x="25400" y="1311529"/>
                  </a:cubicBezTo>
                  <a:close/>
                </a:path>
              </a:pathLst>
            </a:custGeom>
            <a:solidFill>
              <a:srgbClr val="263238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686191" y="3426360"/>
            <a:ext cx="1914525" cy="1914525"/>
          </a:xfrm>
          <a:custGeom>
            <a:avLst/>
            <a:gdLst/>
            <a:ahLst/>
            <a:cxnLst/>
            <a:rect r="r" b="b" t="t" l="l"/>
            <a:pathLst>
              <a:path h="1914525" w="1914525">
                <a:moveTo>
                  <a:pt x="0" y="0"/>
                </a:moveTo>
                <a:lnTo>
                  <a:pt x="1914525" y="0"/>
                </a:lnTo>
                <a:lnTo>
                  <a:pt x="1914525" y="1914525"/>
                </a:lnTo>
                <a:lnTo>
                  <a:pt x="0" y="19145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243835" y="4471729"/>
            <a:ext cx="1914525" cy="1914525"/>
          </a:xfrm>
          <a:custGeom>
            <a:avLst/>
            <a:gdLst/>
            <a:ahLst/>
            <a:cxnLst/>
            <a:rect r="r" b="b" t="t" l="l"/>
            <a:pathLst>
              <a:path h="1914525" w="1914525">
                <a:moveTo>
                  <a:pt x="0" y="0"/>
                </a:moveTo>
                <a:lnTo>
                  <a:pt x="1914525" y="0"/>
                </a:lnTo>
                <a:lnTo>
                  <a:pt x="1914525" y="1914525"/>
                </a:lnTo>
                <a:lnTo>
                  <a:pt x="0" y="19145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5856426" y="1248127"/>
            <a:ext cx="4651720" cy="969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6400">
                <a:solidFill>
                  <a:srgbClr val="263238"/>
                </a:solidFill>
                <a:latin typeface="Lulu Font TH"/>
                <a:ea typeface="Lulu Font TH"/>
                <a:cs typeface="Lulu Font TH"/>
                <a:sym typeface="Lulu Font TH"/>
              </a:rPr>
              <a:t>K</a:t>
            </a:r>
            <a:r>
              <a:rPr lang="en-US" sz="6400">
                <a:solidFill>
                  <a:srgbClr val="263238"/>
                </a:solidFill>
                <a:latin typeface="Lulu Font TH"/>
                <a:ea typeface="Lulu Font TH"/>
                <a:cs typeface="Lulu Font TH"/>
                <a:sym typeface="Lulu Font TH"/>
              </a:rPr>
              <a:t>ey Datasets: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379199" y="6917642"/>
            <a:ext cx="4181414" cy="442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3855323" y="8303518"/>
            <a:ext cx="4181414" cy="442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198545" y="5729613"/>
            <a:ext cx="4165843" cy="910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9"/>
              </a:lnSpc>
            </a:pPr>
            <a:r>
              <a:rPr lang="en-US" b="true" sz="2024">
                <a:solidFill>
                  <a:srgbClr val="263238"/>
                </a:solidFill>
                <a:latin typeface="JetBrains Mono Ultra-Bold"/>
                <a:ea typeface="JetBrains Mono Ultra-Bold"/>
                <a:cs typeface="JetBrains Mono Ultra-Bold"/>
                <a:sym typeface="JetBrains Mono Ultra-Bold"/>
              </a:rPr>
              <a:t>Beneficiary Data</a:t>
            </a:r>
          </a:p>
          <a:p>
            <a:pPr algn="l">
              <a:lnSpc>
                <a:spcPts val="2429"/>
              </a:lnSpc>
            </a:pPr>
            <a:r>
              <a:rPr lang="en-US" b="true" sz="2024">
                <a:solidFill>
                  <a:srgbClr val="263238"/>
                </a:solidFill>
                <a:latin typeface="JetBrains Mono Ultra-Bold"/>
                <a:ea typeface="JetBrains Mono Ultra-Bold"/>
                <a:cs typeface="JetBrains Mono Ultra-Bold"/>
                <a:sym typeface="JetBrains Mono Ultra-Bold"/>
              </a:rPr>
              <a:t>(Train_Beneficiarydata.csv)</a:t>
            </a:r>
          </a:p>
          <a:p>
            <a:pPr algn="l">
              <a:lnSpc>
                <a:spcPts val="2429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6507069"/>
            <a:ext cx="3870979" cy="2124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0005" indent="-255003" lvl="1">
              <a:lnSpc>
                <a:spcPts val="2834"/>
              </a:lnSpc>
              <a:buFont typeface="Arial"/>
              <a:buChar char="•"/>
            </a:pPr>
            <a:r>
              <a:rPr lang="en-US" sz="2362">
                <a:solidFill>
                  <a:srgbClr val="263238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2362">
                <a:solidFill>
                  <a:srgbClr val="263238"/>
                </a:solidFill>
                <a:latin typeface="Poppins"/>
                <a:ea typeface="Poppins"/>
                <a:cs typeface="Poppins"/>
                <a:sym typeface="Poppins"/>
              </a:rPr>
              <a:t>emographics, coverage, chronic conditions</a:t>
            </a:r>
          </a:p>
          <a:p>
            <a:pPr algn="l" marL="510005" indent="-255003" lvl="1">
              <a:lnSpc>
                <a:spcPts val="2834"/>
              </a:lnSpc>
              <a:buFont typeface="Arial"/>
              <a:buChar char="•"/>
            </a:pPr>
            <a:r>
              <a:rPr lang="en-US" sz="2362">
                <a:solidFill>
                  <a:srgbClr val="263238"/>
                </a:solidFill>
                <a:latin typeface="Poppins"/>
                <a:ea typeface="Poppins"/>
                <a:cs typeface="Poppins"/>
                <a:sym typeface="Poppins"/>
              </a:rPr>
              <a:t>138,556 records, 25 features</a:t>
            </a:r>
          </a:p>
          <a:p>
            <a:pPr algn="l">
              <a:lnSpc>
                <a:spcPts val="2834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5435453" y="6734382"/>
            <a:ext cx="3857295" cy="910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9"/>
              </a:lnSpc>
            </a:pPr>
            <a:r>
              <a:rPr lang="en-US" b="true" sz="2024">
                <a:solidFill>
                  <a:srgbClr val="263238"/>
                </a:solidFill>
                <a:latin typeface="JetBrains Mono Ultra-Bold"/>
                <a:ea typeface="JetBrains Mono Ultra-Bold"/>
                <a:cs typeface="JetBrains Mono Ultra-Bold"/>
                <a:sym typeface="JetBrains Mono Ultra-Bold"/>
              </a:rPr>
              <a:t>I</a:t>
            </a:r>
            <a:r>
              <a:rPr lang="en-US" b="true" sz="2024">
                <a:solidFill>
                  <a:srgbClr val="263238"/>
                </a:solidFill>
                <a:latin typeface="JetBrains Mono Ultra-Bold"/>
                <a:ea typeface="JetBrains Mono Ultra-Bold"/>
                <a:cs typeface="JetBrains Mono Ultra-Bold"/>
                <a:sym typeface="JetBrains Mono Ultra-Bold"/>
              </a:rPr>
              <a:t>npatient Claims</a:t>
            </a:r>
          </a:p>
          <a:p>
            <a:pPr algn="l">
              <a:lnSpc>
                <a:spcPts val="2429"/>
              </a:lnSpc>
            </a:pPr>
            <a:r>
              <a:rPr lang="en-US" b="true" sz="2024">
                <a:solidFill>
                  <a:srgbClr val="263238"/>
                </a:solidFill>
                <a:latin typeface="JetBrains Mono Ultra-Bold"/>
                <a:ea typeface="JetBrains Mono Ultra-Bold"/>
                <a:cs typeface="JetBrains Mono Ultra-Bold"/>
                <a:sym typeface="JetBrains Mono Ultra-Bold"/>
              </a:rPr>
              <a:t>(Train_Inpatientdata.csv)</a:t>
            </a:r>
          </a:p>
          <a:p>
            <a:pPr algn="l">
              <a:lnSpc>
                <a:spcPts val="2429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5265608" y="7511838"/>
            <a:ext cx="3870979" cy="1775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0005" indent="-255003" lvl="1">
              <a:lnSpc>
                <a:spcPts val="2834"/>
              </a:lnSpc>
              <a:buFont typeface="Arial"/>
              <a:buChar char="•"/>
            </a:pPr>
            <a:r>
              <a:rPr lang="en-US" sz="2362">
                <a:solidFill>
                  <a:srgbClr val="263238"/>
                </a:solidFill>
                <a:latin typeface="Poppins"/>
                <a:ea typeface="Poppins"/>
                <a:cs typeface="Poppins"/>
                <a:sym typeface="Poppins"/>
              </a:rPr>
              <a:t>H</a:t>
            </a:r>
            <a:r>
              <a:rPr lang="en-US" sz="2362">
                <a:solidFill>
                  <a:srgbClr val="263238"/>
                </a:solidFill>
                <a:latin typeface="Poppins"/>
                <a:ea typeface="Poppins"/>
                <a:cs typeface="Poppins"/>
                <a:sym typeface="Poppins"/>
              </a:rPr>
              <a:t>ospital admission claims</a:t>
            </a:r>
          </a:p>
          <a:p>
            <a:pPr algn="l" marL="510005" indent="-255003" lvl="1">
              <a:lnSpc>
                <a:spcPts val="2834"/>
              </a:lnSpc>
              <a:buFont typeface="Arial"/>
              <a:buChar char="•"/>
            </a:pPr>
            <a:r>
              <a:rPr lang="en-US" sz="2362">
                <a:solidFill>
                  <a:srgbClr val="263238"/>
                </a:solidFill>
                <a:latin typeface="Poppins"/>
                <a:ea typeface="Poppins"/>
                <a:cs typeface="Poppins"/>
                <a:sym typeface="Poppins"/>
              </a:rPr>
              <a:t>Financial, procedural, physician details</a:t>
            </a:r>
          </a:p>
          <a:p>
            <a:pPr algn="l">
              <a:lnSpc>
                <a:spcPts val="2834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2252352" y="4084956"/>
            <a:ext cx="571784" cy="900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228"/>
              </a:lnSpc>
            </a:pPr>
            <a:r>
              <a:rPr lang="en-US" b="true" sz="8304" spc="-581">
                <a:solidFill>
                  <a:srgbClr val="428CE4"/>
                </a:solidFill>
                <a:latin typeface="Garet Heavy"/>
                <a:ea typeface="Garet Heavy"/>
                <a:cs typeface="Garet Heavy"/>
                <a:sym typeface="Garet Heavy"/>
              </a:rPr>
              <a:t>1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915206" y="5155041"/>
            <a:ext cx="571784" cy="900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6228"/>
              </a:lnSpc>
              <a:spcBef>
                <a:spcPct val="0"/>
              </a:spcBef>
            </a:pPr>
            <a:r>
              <a:rPr lang="en-US" b="true" sz="8304" spc="-581" strike="noStrike" u="none">
                <a:solidFill>
                  <a:srgbClr val="428CE4"/>
                </a:solidFill>
                <a:latin typeface="Garet Heavy"/>
                <a:ea typeface="Garet Heavy"/>
                <a:cs typeface="Garet Heavy"/>
                <a:sym typeface="Garet Heavy"/>
              </a:rPr>
              <a:t>2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0313099" y="3257639"/>
            <a:ext cx="1914525" cy="1914525"/>
          </a:xfrm>
          <a:custGeom>
            <a:avLst/>
            <a:gdLst/>
            <a:ahLst/>
            <a:cxnLst/>
            <a:rect r="r" b="b" t="t" l="l"/>
            <a:pathLst>
              <a:path h="1914525" w="1914525">
                <a:moveTo>
                  <a:pt x="0" y="0"/>
                </a:moveTo>
                <a:lnTo>
                  <a:pt x="1914525" y="0"/>
                </a:lnTo>
                <a:lnTo>
                  <a:pt x="1914525" y="1914525"/>
                </a:lnTo>
                <a:lnTo>
                  <a:pt x="0" y="19145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4513123" y="4643515"/>
            <a:ext cx="1914525" cy="1914525"/>
          </a:xfrm>
          <a:custGeom>
            <a:avLst/>
            <a:gdLst/>
            <a:ahLst/>
            <a:cxnLst/>
            <a:rect r="r" b="b" t="t" l="l"/>
            <a:pathLst>
              <a:path h="1914525" w="1914525">
                <a:moveTo>
                  <a:pt x="0" y="0"/>
                </a:moveTo>
                <a:lnTo>
                  <a:pt x="1914525" y="0"/>
                </a:lnTo>
                <a:lnTo>
                  <a:pt x="1914525" y="1914525"/>
                </a:lnTo>
                <a:lnTo>
                  <a:pt x="0" y="19145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9605629" y="5572742"/>
            <a:ext cx="4011569" cy="910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9"/>
              </a:lnSpc>
            </a:pPr>
            <a:r>
              <a:rPr lang="en-US" b="true" sz="2024">
                <a:solidFill>
                  <a:srgbClr val="263238"/>
                </a:solidFill>
                <a:latin typeface="JetBrains Mono Ultra-Bold"/>
                <a:ea typeface="JetBrains Mono Ultra-Bold"/>
                <a:cs typeface="JetBrains Mono Ultra-Bold"/>
                <a:sym typeface="JetBrains Mono Ultra-Bold"/>
              </a:rPr>
              <a:t>Out</a:t>
            </a:r>
            <a:r>
              <a:rPr lang="en-US" b="true" sz="2024">
                <a:solidFill>
                  <a:srgbClr val="263238"/>
                </a:solidFill>
                <a:latin typeface="JetBrains Mono Ultra-Bold"/>
                <a:ea typeface="JetBrains Mono Ultra-Bold"/>
                <a:cs typeface="JetBrains Mono Ultra-Bold"/>
                <a:sym typeface="JetBrains Mono Ultra-Bold"/>
              </a:rPr>
              <a:t>patient Claims</a:t>
            </a:r>
          </a:p>
          <a:p>
            <a:pPr algn="l">
              <a:lnSpc>
                <a:spcPts val="2429"/>
              </a:lnSpc>
            </a:pPr>
            <a:r>
              <a:rPr lang="en-US" b="true" sz="2024">
                <a:solidFill>
                  <a:srgbClr val="263238"/>
                </a:solidFill>
                <a:latin typeface="JetBrains Mono Ultra-Bold"/>
                <a:ea typeface="JetBrains Mono Ultra-Bold"/>
                <a:cs typeface="JetBrains Mono Ultra-Bold"/>
                <a:sym typeface="JetBrains Mono Ultra-Bold"/>
              </a:rPr>
              <a:t>(Train_Outpatientdata.csv)</a:t>
            </a:r>
          </a:p>
          <a:p>
            <a:pPr algn="l">
              <a:lnSpc>
                <a:spcPts val="2429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9435784" y="6350198"/>
            <a:ext cx="3870979" cy="1076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0005" indent="-255003" lvl="1">
              <a:lnSpc>
                <a:spcPts val="2834"/>
              </a:lnSpc>
              <a:buFont typeface="Arial"/>
              <a:buChar char="•"/>
            </a:pPr>
            <a:r>
              <a:rPr lang="en-US" sz="2362">
                <a:solidFill>
                  <a:srgbClr val="263238"/>
                </a:solidFill>
                <a:latin typeface="Poppins"/>
                <a:ea typeface="Poppins"/>
                <a:cs typeface="Poppins"/>
                <a:sym typeface="Poppins"/>
              </a:rPr>
              <a:t>Vi</a:t>
            </a:r>
            <a:r>
              <a:rPr lang="en-US" sz="2362">
                <a:solidFill>
                  <a:srgbClr val="263238"/>
                </a:solidFill>
                <a:latin typeface="Poppins"/>
                <a:ea typeface="Poppins"/>
                <a:cs typeface="Poppins"/>
                <a:sym typeface="Poppins"/>
              </a:rPr>
              <a:t>sits, tests, minor procedures</a:t>
            </a:r>
          </a:p>
          <a:p>
            <a:pPr algn="l">
              <a:lnSpc>
                <a:spcPts val="2834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10963013" y="3940951"/>
            <a:ext cx="571784" cy="900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6228"/>
              </a:lnSpc>
              <a:spcBef>
                <a:spcPct val="0"/>
              </a:spcBef>
            </a:pPr>
            <a:r>
              <a:rPr lang="en-US" b="true" sz="8304" spc="-581" strike="noStrike" u="none">
                <a:solidFill>
                  <a:srgbClr val="428CE4"/>
                </a:solidFill>
                <a:latin typeface="Garet Heavy"/>
                <a:ea typeface="Garet Heavy"/>
                <a:cs typeface="Garet Heavy"/>
                <a:sym typeface="Garet Heavy"/>
              </a:rPr>
              <a:t>3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081753" y="6958618"/>
            <a:ext cx="2777265" cy="910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9"/>
              </a:lnSpc>
            </a:pPr>
            <a:r>
              <a:rPr lang="en-US" b="true" sz="2024">
                <a:solidFill>
                  <a:srgbClr val="263238"/>
                </a:solidFill>
                <a:latin typeface="JetBrains Mono Ultra-Bold"/>
                <a:ea typeface="JetBrains Mono Ultra-Bold"/>
                <a:cs typeface="JetBrains Mono Ultra-Bold"/>
                <a:sym typeface="JetBrains Mono Ultra-Bold"/>
              </a:rPr>
              <a:t>Fraud L</a:t>
            </a:r>
            <a:r>
              <a:rPr lang="en-US" b="true" sz="2024">
                <a:solidFill>
                  <a:srgbClr val="263238"/>
                </a:solidFill>
                <a:latin typeface="JetBrains Mono Ultra-Bold"/>
                <a:ea typeface="JetBrains Mono Ultra-Bold"/>
                <a:cs typeface="JetBrains Mono Ultra-Bold"/>
                <a:sym typeface="JetBrains Mono Ultra-Bold"/>
              </a:rPr>
              <a:t>abels</a:t>
            </a:r>
          </a:p>
          <a:p>
            <a:pPr algn="l">
              <a:lnSpc>
                <a:spcPts val="2429"/>
              </a:lnSpc>
            </a:pPr>
            <a:r>
              <a:rPr lang="en-US" b="true" sz="2024">
                <a:solidFill>
                  <a:srgbClr val="263238"/>
                </a:solidFill>
                <a:latin typeface="JetBrains Mono Ultra-Bold"/>
                <a:ea typeface="JetBrains Mono Ultra-Bold"/>
                <a:cs typeface="JetBrains Mono Ultra-Bold"/>
                <a:sym typeface="JetBrains Mono Ultra-Bold"/>
              </a:rPr>
              <a:t>(Train_labels.csv)</a:t>
            </a:r>
          </a:p>
          <a:p>
            <a:pPr algn="l">
              <a:lnSpc>
                <a:spcPts val="2429"/>
              </a:lnSpc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13911908" y="7736074"/>
            <a:ext cx="3870979" cy="1426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0005" indent="-255003" lvl="1">
              <a:lnSpc>
                <a:spcPts val="2834"/>
              </a:lnSpc>
              <a:buFont typeface="Arial"/>
              <a:buChar char="•"/>
            </a:pPr>
            <a:r>
              <a:rPr lang="en-US" sz="2362">
                <a:solidFill>
                  <a:srgbClr val="263238"/>
                </a:solidFill>
                <a:latin typeface="Poppins"/>
                <a:ea typeface="Poppins"/>
                <a:cs typeface="Poppins"/>
                <a:sym typeface="Poppins"/>
              </a:rPr>
              <a:t>Provider-level</a:t>
            </a:r>
            <a:r>
              <a:rPr lang="en-US" sz="2362">
                <a:solidFill>
                  <a:srgbClr val="263238"/>
                </a:solidFill>
                <a:latin typeface="Poppins"/>
                <a:ea typeface="Poppins"/>
                <a:cs typeface="Poppins"/>
                <a:sym typeface="Poppins"/>
              </a:rPr>
              <a:t> fraud labels (Yes/No)</a:t>
            </a:r>
          </a:p>
          <a:p>
            <a:pPr algn="l" marL="510005" indent="-255003" lvl="1">
              <a:lnSpc>
                <a:spcPts val="2834"/>
              </a:lnSpc>
              <a:buFont typeface="Arial"/>
              <a:buChar char="•"/>
            </a:pPr>
            <a:r>
              <a:rPr lang="en-US" sz="2362">
                <a:solidFill>
                  <a:srgbClr val="263238"/>
                </a:solidFill>
                <a:latin typeface="Poppins"/>
                <a:ea typeface="Poppins"/>
                <a:cs typeface="Poppins"/>
                <a:sym typeface="Poppins"/>
              </a:rPr>
              <a:t>5,410 providers total</a:t>
            </a:r>
          </a:p>
          <a:p>
            <a:pPr algn="l">
              <a:lnSpc>
                <a:spcPts val="2834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15184494" y="5367427"/>
            <a:ext cx="571784" cy="900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6228"/>
              </a:lnSpc>
              <a:spcBef>
                <a:spcPct val="0"/>
              </a:spcBef>
            </a:pPr>
            <a:r>
              <a:rPr lang="en-US" b="true" sz="8304" spc="-581" strike="noStrike" u="none">
                <a:solidFill>
                  <a:srgbClr val="428CE4"/>
                </a:solidFill>
                <a:latin typeface="Garet Heavy"/>
                <a:ea typeface="Garet Heavy"/>
                <a:cs typeface="Garet Heavy"/>
                <a:sym typeface="Garet Heavy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366000" y="1449286"/>
            <a:ext cx="11556000" cy="544800"/>
            <a:chOff x="0" y="0"/>
            <a:chExt cx="15408000" cy="72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08021" cy="726440"/>
            </a:xfrm>
            <a:custGeom>
              <a:avLst/>
              <a:gdLst/>
              <a:ahLst/>
              <a:cxnLst/>
              <a:rect r="r" b="b" t="t" l="l"/>
              <a:pathLst>
                <a:path h="726440" w="15408021">
                  <a:moveTo>
                    <a:pt x="0" y="363220"/>
                  </a:moveTo>
                  <a:cubicBezTo>
                    <a:pt x="0" y="162560"/>
                    <a:pt x="162560" y="0"/>
                    <a:pt x="363220" y="0"/>
                  </a:cubicBezTo>
                  <a:lnTo>
                    <a:pt x="15044801" y="0"/>
                  </a:lnTo>
                  <a:cubicBezTo>
                    <a:pt x="15245335" y="0"/>
                    <a:pt x="15408021" y="162560"/>
                    <a:pt x="15408021" y="363220"/>
                  </a:cubicBezTo>
                  <a:cubicBezTo>
                    <a:pt x="15408021" y="563880"/>
                    <a:pt x="15245462" y="726440"/>
                    <a:pt x="15044801" y="726440"/>
                  </a:cubicBezTo>
                  <a:lnTo>
                    <a:pt x="363220" y="726440"/>
                  </a:lnTo>
                  <a:cubicBezTo>
                    <a:pt x="162560" y="726440"/>
                    <a:pt x="0" y="563753"/>
                    <a:pt x="0" y="363220"/>
                  </a:cubicBezTo>
                  <a:close/>
                </a:path>
              </a:pathLst>
            </a:custGeom>
            <a:solidFill>
              <a:srgbClr val="C7E7F9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4366759" y="-4340916"/>
            <a:ext cx="9212140" cy="9992728"/>
          </a:xfrm>
          <a:custGeom>
            <a:avLst/>
            <a:gdLst/>
            <a:ahLst/>
            <a:cxnLst/>
            <a:rect r="r" b="b" t="t" l="l"/>
            <a:pathLst>
              <a:path h="9992728" w="9212140">
                <a:moveTo>
                  <a:pt x="0" y="0"/>
                </a:moveTo>
                <a:lnTo>
                  <a:pt x="9212140" y="0"/>
                </a:lnTo>
                <a:lnTo>
                  <a:pt x="9212140" y="9992728"/>
                </a:lnTo>
                <a:lnTo>
                  <a:pt x="0" y="99927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15313" y="4564369"/>
            <a:ext cx="2227637" cy="2073728"/>
          </a:xfrm>
          <a:custGeom>
            <a:avLst/>
            <a:gdLst/>
            <a:ahLst/>
            <a:cxnLst/>
            <a:rect r="r" b="b" t="t" l="l"/>
            <a:pathLst>
              <a:path h="2073728" w="2227637">
                <a:moveTo>
                  <a:pt x="0" y="0"/>
                </a:moveTo>
                <a:lnTo>
                  <a:pt x="2227637" y="0"/>
                </a:lnTo>
                <a:lnTo>
                  <a:pt x="2227637" y="2073727"/>
                </a:lnTo>
                <a:lnTo>
                  <a:pt x="0" y="20737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457425" y="860311"/>
            <a:ext cx="11464575" cy="969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79"/>
              </a:lnSpc>
            </a:pPr>
            <a:r>
              <a:rPr lang="en-US" sz="6399">
                <a:solidFill>
                  <a:srgbClr val="263238"/>
                </a:solidFill>
                <a:latin typeface="Lulu Font TH"/>
                <a:ea typeface="Lulu Font TH"/>
                <a:cs typeface="Lulu Font TH"/>
                <a:sym typeface="Lulu Font TH"/>
              </a:rPr>
              <a:t>DA</a:t>
            </a:r>
            <a:r>
              <a:rPr lang="en-US" sz="6399">
                <a:solidFill>
                  <a:srgbClr val="263238"/>
                </a:solidFill>
                <a:latin typeface="Lulu Font TH"/>
                <a:ea typeface="Lulu Font TH"/>
                <a:cs typeface="Lulu Font TH"/>
                <a:sym typeface="Lulu Font TH"/>
              </a:rPr>
              <a:t>TA PREPROCESSING PIPELINE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00627" y="6830969"/>
            <a:ext cx="5489299" cy="538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2"/>
              </a:lnSpc>
            </a:pPr>
            <a:r>
              <a:rPr lang="en-US" b="true" sz="3601">
                <a:solidFill>
                  <a:srgbClr val="263238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Ben</a:t>
            </a:r>
            <a:r>
              <a:rPr lang="en-US" b="true" sz="3601">
                <a:solidFill>
                  <a:srgbClr val="263238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eficiary Features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00627" y="7534382"/>
            <a:ext cx="4859908" cy="1656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829" indent="-302414" lvl="1">
              <a:lnSpc>
                <a:spcPts val="3361"/>
              </a:lnSpc>
              <a:buFont typeface="Arial"/>
              <a:buChar char="•"/>
            </a:pPr>
            <a:r>
              <a:rPr lang="en-US" sz="2801">
                <a:solidFill>
                  <a:srgbClr val="26323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Ag</a:t>
            </a:r>
            <a:r>
              <a:rPr lang="en-US" sz="2801">
                <a:solidFill>
                  <a:srgbClr val="26323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 calculation</a:t>
            </a:r>
          </a:p>
          <a:p>
            <a:pPr algn="l" marL="604829" indent="-302414" lvl="1">
              <a:lnSpc>
                <a:spcPts val="3361"/>
              </a:lnSpc>
              <a:buFont typeface="Arial"/>
              <a:buChar char="•"/>
            </a:pPr>
            <a:r>
              <a:rPr lang="en-US" sz="2801">
                <a:solidFill>
                  <a:srgbClr val="26323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Deceased status</a:t>
            </a:r>
          </a:p>
          <a:p>
            <a:pPr algn="l" marL="604829" indent="-302414" lvl="1">
              <a:lnSpc>
                <a:spcPts val="3361"/>
              </a:lnSpc>
              <a:buFont typeface="Arial"/>
              <a:buChar char="•"/>
            </a:pPr>
            <a:r>
              <a:rPr lang="en-US" sz="2801">
                <a:solidFill>
                  <a:srgbClr val="26323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Chronic conditions count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571121" y="7244038"/>
            <a:ext cx="4391385" cy="538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22"/>
              </a:lnSpc>
              <a:spcBef>
                <a:spcPct val="0"/>
              </a:spcBef>
            </a:pPr>
            <a:r>
              <a:rPr lang="en-US" b="true" sz="3601" strike="noStrike" u="none">
                <a:solidFill>
                  <a:srgbClr val="263238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Claims Features: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980426" y="7947451"/>
            <a:ext cx="5897416" cy="2071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831" indent="-302415" lvl="1">
              <a:lnSpc>
                <a:spcPts val="3361"/>
              </a:lnSpc>
              <a:spcBef>
                <a:spcPct val="0"/>
              </a:spcBef>
              <a:buFont typeface="Arial"/>
              <a:buChar char="•"/>
            </a:pPr>
            <a:r>
              <a:rPr lang="en-US" sz="2801" strike="noStrike" u="none">
                <a:solidFill>
                  <a:srgbClr val="26323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Claim duration</a:t>
            </a:r>
          </a:p>
          <a:p>
            <a:pPr algn="l" marL="604831" indent="-302415" lvl="1">
              <a:lnSpc>
                <a:spcPts val="3361"/>
              </a:lnSpc>
              <a:spcBef>
                <a:spcPct val="0"/>
              </a:spcBef>
              <a:buFont typeface="Arial"/>
              <a:buChar char="•"/>
            </a:pPr>
            <a:r>
              <a:rPr lang="en-US" sz="2801" strike="noStrike" u="none">
                <a:solidFill>
                  <a:srgbClr val="26323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Reimbursement per day</a:t>
            </a:r>
          </a:p>
          <a:p>
            <a:pPr algn="l" marL="604831" indent="-302415" lvl="1">
              <a:lnSpc>
                <a:spcPts val="3361"/>
              </a:lnSpc>
              <a:spcBef>
                <a:spcPct val="0"/>
              </a:spcBef>
              <a:buFont typeface="Arial"/>
              <a:buChar char="•"/>
            </a:pPr>
            <a:r>
              <a:rPr lang="en-US" sz="2801" strike="noStrike" u="none">
                <a:solidFill>
                  <a:srgbClr val="26323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Weekend/high-cost flags</a:t>
            </a:r>
          </a:p>
          <a:p>
            <a:pPr algn="l" marL="604831" indent="-302415" lvl="1">
              <a:lnSpc>
                <a:spcPts val="3361"/>
              </a:lnSpc>
              <a:spcBef>
                <a:spcPct val="0"/>
              </a:spcBef>
              <a:buFont typeface="Arial"/>
              <a:buChar char="•"/>
            </a:pPr>
            <a:r>
              <a:rPr lang="en-US" sz="2801" strike="noStrike" u="none">
                <a:solidFill>
                  <a:srgbClr val="26323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Inpatient/outpatient ratios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877843" y="6844542"/>
            <a:ext cx="6410157" cy="538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22"/>
              </a:lnSpc>
              <a:spcBef>
                <a:spcPct val="0"/>
              </a:spcBef>
            </a:pPr>
            <a:r>
              <a:rPr lang="en-US" b="true" sz="3601" strike="noStrike" u="none">
                <a:solidFill>
                  <a:srgbClr val="263238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Provider Aggregations: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615901" y="7547955"/>
            <a:ext cx="6410157" cy="2071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831" indent="-302415" lvl="1">
              <a:lnSpc>
                <a:spcPts val="3361"/>
              </a:lnSpc>
              <a:spcBef>
                <a:spcPct val="0"/>
              </a:spcBef>
              <a:buFont typeface="Arial"/>
              <a:buChar char="•"/>
            </a:pPr>
            <a:r>
              <a:rPr lang="en-US" sz="2801" strike="noStrike" u="none">
                <a:solidFill>
                  <a:srgbClr val="26323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Total/average claim amounts</a:t>
            </a:r>
          </a:p>
          <a:p>
            <a:pPr algn="l" marL="604831" indent="-302415" lvl="1">
              <a:lnSpc>
                <a:spcPts val="3361"/>
              </a:lnSpc>
              <a:spcBef>
                <a:spcPct val="0"/>
              </a:spcBef>
              <a:buFont typeface="Arial"/>
              <a:buChar char="•"/>
            </a:pPr>
            <a:r>
              <a:rPr lang="en-US" sz="2801" strike="noStrike" u="none">
                <a:solidFill>
                  <a:srgbClr val="26323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Unique beneficiaries count</a:t>
            </a:r>
          </a:p>
          <a:p>
            <a:pPr algn="l" marL="604831" indent="-302415" lvl="1">
              <a:lnSpc>
                <a:spcPts val="3361"/>
              </a:lnSpc>
              <a:spcBef>
                <a:spcPct val="0"/>
              </a:spcBef>
              <a:buFont typeface="Arial"/>
              <a:buChar char="•"/>
            </a:pPr>
            <a:r>
              <a:rPr lang="en-US" sz="2801" strike="noStrike" u="none">
                <a:solidFill>
                  <a:srgbClr val="26323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Claim patterns over time</a:t>
            </a:r>
          </a:p>
          <a:p>
            <a:pPr algn="l" marL="604831" indent="-302415" lvl="1">
              <a:lnSpc>
                <a:spcPts val="3361"/>
              </a:lnSpc>
              <a:spcBef>
                <a:spcPct val="0"/>
              </a:spcBef>
              <a:buFont typeface="Arial"/>
              <a:buChar char="•"/>
            </a:pPr>
            <a:r>
              <a:rPr lang="en-US" sz="2801" strike="noStrike" u="none">
                <a:solidFill>
                  <a:srgbClr val="26323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40+ provider-level features created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820419" y="2575111"/>
            <a:ext cx="3892790" cy="660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99"/>
              </a:lnSpc>
            </a:pPr>
            <a:r>
              <a:rPr lang="en-US" b="true" sz="3332" spc="-233">
                <a:solidFill>
                  <a:srgbClr val="364FAB"/>
                </a:solidFill>
                <a:latin typeface="Garet Heavy"/>
                <a:ea typeface="Garet Heavy"/>
                <a:cs typeface="Garet Heavy"/>
                <a:sym typeface="Garet Heavy"/>
              </a:rPr>
              <a:t>Data Int</a:t>
            </a:r>
            <a:r>
              <a:rPr lang="en-US" b="true" sz="3332" spc="-233">
                <a:solidFill>
                  <a:srgbClr val="364FAB"/>
                </a:solidFill>
                <a:latin typeface="Garet Heavy"/>
                <a:ea typeface="Garet Heavy"/>
                <a:cs typeface="Garet Heavy"/>
                <a:sym typeface="Garet Heavy"/>
              </a:rPr>
              <a:t>egration:</a:t>
            </a:r>
          </a:p>
          <a:p>
            <a:pPr algn="just">
              <a:lnSpc>
                <a:spcPts val="2499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3614388" y="3062909"/>
            <a:ext cx="11059224" cy="1242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Linked BenefID → Claims → Pr</a:t>
            </a:r>
            <a:r>
              <a:rPr lang="en-US" b="true" sz="2799">
                <a:solidFill>
                  <a:srgbClr val="000000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ovider → Fraud labels</a:t>
            </a: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Consolidated claim-level → provider-level records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6820419" y="4340161"/>
            <a:ext cx="4607175" cy="660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99"/>
              </a:lnSpc>
            </a:pPr>
            <a:r>
              <a:rPr lang="en-US" b="true" sz="3332" spc="-233">
                <a:solidFill>
                  <a:srgbClr val="364FAB"/>
                </a:solidFill>
                <a:latin typeface="Garet Heavy"/>
                <a:ea typeface="Garet Heavy"/>
                <a:cs typeface="Garet Heavy"/>
                <a:sym typeface="Garet Heavy"/>
              </a:rPr>
              <a:t>Feature Engine</a:t>
            </a:r>
            <a:r>
              <a:rPr lang="en-US" b="true" sz="3332" spc="-233">
                <a:solidFill>
                  <a:srgbClr val="364FAB"/>
                </a:solidFill>
                <a:latin typeface="Garet Heavy"/>
                <a:ea typeface="Garet Heavy"/>
                <a:cs typeface="Garet Heavy"/>
                <a:sym typeface="Garet Heavy"/>
              </a:rPr>
              <a:t>ering:</a:t>
            </a:r>
          </a:p>
          <a:p>
            <a:pPr algn="just">
              <a:lnSpc>
                <a:spcPts val="2499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2158798" y="5323332"/>
            <a:ext cx="571784" cy="900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228"/>
              </a:lnSpc>
            </a:pPr>
            <a:r>
              <a:rPr lang="en-US" b="true" sz="8304" spc="-581">
                <a:solidFill>
                  <a:srgbClr val="000000"/>
                </a:solidFill>
                <a:latin typeface="Garet Heavy"/>
                <a:ea typeface="Garet Heavy"/>
                <a:cs typeface="Garet Heavy"/>
                <a:sym typeface="Garet Heavy"/>
              </a:rPr>
              <a:t>1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7730874" y="5038031"/>
            <a:ext cx="2227637" cy="2073728"/>
          </a:xfrm>
          <a:custGeom>
            <a:avLst/>
            <a:gdLst/>
            <a:ahLst/>
            <a:cxnLst/>
            <a:rect r="r" b="b" t="t" l="l"/>
            <a:pathLst>
              <a:path h="2073728" w="2227637">
                <a:moveTo>
                  <a:pt x="0" y="0"/>
                </a:moveTo>
                <a:lnTo>
                  <a:pt x="2227637" y="0"/>
                </a:lnTo>
                <a:lnTo>
                  <a:pt x="2227637" y="2073727"/>
                </a:lnTo>
                <a:lnTo>
                  <a:pt x="0" y="20737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8558800" y="5767349"/>
            <a:ext cx="571784" cy="900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228"/>
              </a:lnSpc>
            </a:pPr>
            <a:r>
              <a:rPr lang="en-US" b="true" sz="8304" spc="-581">
                <a:solidFill>
                  <a:srgbClr val="000000"/>
                </a:solidFill>
                <a:latin typeface="Garet Heavy"/>
                <a:ea typeface="Garet Heavy"/>
                <a:cs typeface="Garet Heavy"/>
                <a:sym typeface="Garet Heavy"/>
              </a:rPr>
              <a:t>2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3475351" y="4577942"/>
            <a:ext cx="2227637" cy="2073728"/>
          </a:xfrm>
          <a:custGeom>
            <a:avLst/>
            <a:gdLst/>
            <a:ahLst/>
            <a:cxnLst/>
            <a:rect r="r" b="b" t="t" l="l"/>
            <a:pathLst>
              <a:path h="2073728" w="2227637">
                <a:moveTo>
                  <a:pt x="0" y="0"/>
                </a:moveTo>
                <a:lnTo>
                  <a:pt x="2227637" y="0"/>
                </a:lnTo>
                <a:lnTo>
                  <a:pt x="2227637" y="2073727"/>
                </a:lnTo>
                <a:lnTo>
                  <a:pt x="0" y="20737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4303278" y="5336905"/>
            <a:ext cx="571784" cy="900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228"/>
              </a:lnSpc>
            </a:pPr>
            <a:r>
              <a:rPr lang="en-US" b="true" sz="8304" spc="-581">
                <a:solidFill>
                  <a:srgbClr val="000000"/>
                </a:solidFill>
                <a:latin typeface="Garet Heavy"/>
                <a:ea typeface="Garet Heavy"/>
                <a:cs typeface="Garet Heavy"/>
                <a:sym typeface="Garet Heavy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96804" y="1091215"/>
            <a:ext cx="11556000" cy="544800"/>
            <a:chOff x="0" y="0"/>
            <a:chExt cx="15408000" cy="72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08021" cy="726440"/>
            </a:xfrm>
            <a:custGeom>
              <a:avLst/>
              <a:gdLst/>
              <a:ahLst/>
              <a:cxnLst/>
              <a:rect r="r" b="b" t="t" l="l"/>
              <a:pathLst>
                <a:path h="726440" w="15408021">
                  <a:moveTo>
                    <a:pt x="0" y="363220"/>
                  </a:moveTo>
                  <a:cubicBezTo>
                    <a:pt x="0" y="162560"/>
                    <a:pt x="162560" y="0"/>
                    <a:pt x="363220" y="0"/>
                  </a:cubicBezTo>
                  <a:lnTo>
                    <a:pt x="15044801" y="0"/>
                  </a:lnTo>
                  <a:cubicBezTo>
                    <a:pt x="15245335" y="0"/>
                    <a:pt x="15408021" y="162560"/>
                    <a:pt x="15408021" y="363220"/>
                  </a:cubicBezTo>
                  <a:cubicBezTo>
                    <a:pt x="15408021" y="563880"/>
                    <a:pt x="15245462" y="726440"/>
                    <a:pt x="15044801" y="726440"/>
                  </a:cubicBezTo>
                  <a:lnTo>
                    <a:pt x="363220" y="726440"/>
                  </a:lnTo>
                  <a:cubicBezTo>
                    <a:pt x="162560" y="726440"/>
                    <a:pt x="0" y="563753"/>
                    <a:pt x="0" y="363220"/>
                  </a:cubicBezTo>
                  <a:close/>
                </a:path>
              </a:pathLst>
            </a:custGeom>
            <a:solidFill>
              <a:srgbClr val="C7E7F9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3091076" y="609482"/>
            <a:ext cx="2526351" cy="1626052"/>
          </a:xfrm>
          <a:custGeom>
            <a:avLst/>
            <a:gdLst/>
            <a:ahLst/>
            <a:cxnLst/>
            <a:rect r="r" b="b" t="t" l="l"/>
            <a:pathLst>
              <a:path h="1626052" w="2526351">
                <a:moveTo>
                  <a:pt x="0" y="0"/>
                </a:moveTo>
                <a:lnTo>
                  <a:pt x="2526352" y="0"/>
                </a:lnTo>
                <a:lnTo>
                  <a:pt x="2526352" y="1626051"/>
                </a:lnTo>
                <a:lnTo>
                  <a:pt x="0" y="16260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239373" y="6414289"/>
            <a:ext cx="9863256" cy="8835872"/>
          </a:xfrm>
          <a:custGeom>
            <a:avLst/>
            <a:gdLst/>
            <a:ahLst/>
            <a:cxnLst/>
            <a:rect r="r" b="b" t="t" l="l"/>
            <a:pathLst>
              <a:path h="8835872" w="9863256">
                <a:moveTo>
                  <a:pt x="0" y="0"/>
                </a:moveTo>
                <a:lnTo>
                  <a:pt x="9863256" y="0"/>
                </a:lnTo>
                <a:lnTo>
                  <a:pt x="9863256" y="8835872"/>
                </a:lnTo>
                <a:lnTo>
                  <a:pt x="0" y="88358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884950" y="3776689"/>
            <a:ext cx="1252098" cy="1384029"/>
          </a:xfrm>
          <a:custGeom>
            <a:avLst/>
            <a:gdLst/>
            <a:ahLst/>
            <a:cxnLst/>
            <a:rect r="r" b="b" t="t" l="l"/>
            <a:pathLst>
              <a:path h="1384029" w="1252098">
                <a:moveTo>
                  <a:pt x="0" y="0"/>
                </a:moveTo>
                <a:lnTo>
                  <a:pt x="1252098" y="0"/>
                </a:lnTo>
                <a:lnTo>
                  <a:pt x="1252098" y="1384029"/>
                </a:lnTo>
                <a:lnTo>
                  <a:pt x="0" y="13840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035134" y="3309100"/>
            <a:ext cx="1536207" cy="1547461"/>
          </a:xfrm>
          <a:custGeom>
            <a:avLst/>
            <a:gdLst/>
            <a:ahLst/>
            <a:cxnLst/>
            <a:rect r="r" b="b" t="t" l="l"/>
            <a:pathLst>
              <a:path h="1547461" w="1536207">
                <a:moveTo>
                  <a:pt x="0" y="0"/>
                </a:moveTo>
                <a:lnTo>
                  <a:pt x="1536207" y="0"/>
                </a:lnTo>
                <a:lnTo>
                  <a:pt x="1536207" y="1547461"/>
                </a:lnTo>
                <a:lnTo>
                  <a:pt x="0" y="154746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28700" y="7186412"/>
            <a:ext cx="1536207" cy="1547461"/>
          </a:xfrm>
          <a:custGeom>
            <a:avLst/>
            <a:gdLst/>
            <a:ahLst/>
            <a:cxnLst/>
            <a:rect r="r" b="b" t="t" l="l"/>
            <a:pathLst>
              <a:path h="1547461" w="1536207">
                <a:moveTo>
                  <a:pt x="0" y="0"/>
                </a:moveTo>
                <a:lnTo>
                  <a:pt x="1536207" y="0"/>
                </a:lnTo>
                <a:lnTo>
                  <a:pt x="1536207" y="1547461"/>
                </a:lnTo>
                <a:lnTo>
                  <a:pt x="0" y="154746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397184" y="7186412"/>
            <a:ext cx="1536207" cy="1547461"/>
          </a:xfrm>
          <a:custGeom>
            <a:avLst/>
            <a:gdLst/>
            <a:ahLst/>
            <a:cxnLst/>
            <a:rect r="r" b="b" t="t" l="l"/>
            <a:pathLst>
              <a:path h="1547461" w="1536207">
                <a:moveTo>
                  <a:pt x="0" y="0"/>
                </a:moveTo>
                <a:lnTo>
                  <a:pt x="1536207" y="0"/>
                </a:lnTo>
                <a:lnTo>
                  <a:pt x="1536207" y="1547461"/>
                </a:lnTo>
                <a:lnTo>
                  <a:pt x="0" y="154746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3893531">
            <a:off x="11751730" y="5382282"/>
            <a:ext cx="1513551" cy="1378707"/>
          </a:xfrm>
          <a:custGeom>
            <a:avLst/>
            <a:gdLst/>
            <a:ahLst/>
            <a:cxnLst/>
            <a:rect r="r" b="b" t="t" l="l"/>
            <a:pathLst>
              <a:path h="1378707" w="1513551">
                <a:moveTo>
                  <a:pt x="0" y="0"/>
                </a:moveTo>
                <a:lnTo>
                  <a:pt x="1513551" y="0"/>
                </a:lnTo>
                <a:lnTo>
                  <a:pt x="1513551" y="1378707"/>
                </a:lnTo>
                <a:lnTo>
                  <a:pt x="0" y="137870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786330" y="3178508"/>
            <a:ext cx="10972903" cy="538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3600">
                <a:solidFill>
                  <a:srgbClr val="263238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S</a:t>
            </a:r>
            <a:r>
              <a:rPr lang="en-US" b="true" sz="3600">
                <a:solidFill>
                  <a:srgbClr val="263238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MOTE (Synthetic Minority Over-sampling)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774457" y="7290500"/>
            <a:ext cx="4114904" cy="538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20"/>
              </a:lnSpc>
              <a:spcBef>
                <a:spcPct val="0"/>
              </a:spcBef>
            </a:pPr>
            <a:r>
              <a:rPr lang="en-US" b="true" sz="3600" strike="noStrike" u="none">
                <a:solidFill>
                  <a:srgbClr val="263238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Class Weighting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564907" y="7993548"/>
            <a:ext cx="6622727" cy="1656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9" strike="noStrike" u="none">
                <a:solidFill>
                  <a:srgbClr val="263238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Adjusted loss function weights</a:t>
            </a:r>
          </a:p>
          <a:p>
            <a:pPr algn="l" marL="604519" indent="-30226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9" strike="noStrike" u="none">
                <a:solidFill>
                  <a:srgbClr val="263238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Simple implementation</a:t>
            </a:r>
          </a:p>
          <a:p>
            <a:pPr algn="l" marL="604519" indent="-30226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9" strike="noStrike" u="none">
                <a:solidFill>
                  <a:srgbClr val="263238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Good baseline performance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786330" y="3764198"/>
            <a:ext cx="9192176" cy="1242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b="true" sz="2799">
                <a:solidFill>
                  <a:srgbClr val="263238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G</a:t>
            </a:r>
            <a:r>
              <a:rPr lang="en-US" b="true" sz="2799">
                <a:solidFill>
                  <a:srgbClr val="263238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enerated synthetic fraud cases</a:t>
            </a: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b="true" sz="2799">
                <a:solidFill>
                  <a:srgbClr val="263238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Increased fraud rate to 30%</a:t>
            </a: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b="true" sz="2799">
                <a:solidFill>
                  <a:srgbClr val="263238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Best balance of performance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888229" y="511765"/>
            <a:ext cx="11202848" cy="2028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76"/>
              </a:lnSpc>
            </a:pPr>
            <a:r>
              <a:rPr lang="en-US" sz="6730">
                <a:solidFill>
                  <a:srgbClr val="263238"/>
                </a:solidFill>
                <a:latin typeface="Lulu Font TH"/>
                <a:ea typeface="Lulu Font TH"/>
                <a:cs typeface="Lulu Font TH"/>
                <a:sym typeface="Lulu Font TH"/>
              </a:rPr>
              <a:t>HANDLING SEVERE</a:t>
            </a:r>
            <a:r>
              <a:rPr lang="en-US" sz="6730">
                <a:solidFill>
                  <a:srgbClr val="263238"/>
                </a:solidFill>
                <a:latin typeface="Lulu Font TH"/>
                <a:ea typeface="Lulu Font TH"/>
                <a:cs typeface="Lulu Font TH"/>
                <a:sym typeface="Lulu Font TH"/>
              </a:rPr>
              <a:t> IMBALANCE </a:t>
            </a:r>
          </a:p>
          <a:p>
            <a:pPr algn="l">
              <a:lnSpc>
                <a:spcPts val="8076"/>
              </a:lnSpc>
            </a:pPr>
            <a:r>
              <a:rPr lang="en-US" sz="6730">
                <a:solidFill>
                  <a:srgbClr val="263238"/>
                </a:solidFill>
                <a:latin typeface="Lulu Font TH"/>
                <a:ea typeface="Lulu Font TH"/>
                <a:cs typeface="Lulu Font TH"/>
                <a:sym typeface="Lulu Font TH"/>
              </a:rPr>
              <a:t>(10% FRAUD)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142941" y="7290500"/>
            <a:ext cx="5760813" cy="538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20"/>
              </a:lnSpc>
              <a:spcBef>
                <a:spcPct val="0"/>
              </a:spcBef>
            </a:pPr>
            <a:r>
              <a:rPr lang="en-US" b="true" sz="3600" strike="noStrike" u="none">
                <a:solidFill>
                  <a:srgbClr val="263238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Random Under-sampling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142941" y="7993548"/>
            <a:ext cx="5760813" cy="1656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9" strike="noStrike" u="none">
                <a:solidFill>
                  <a:srgbClr val="263238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Reduced majority class samples</a:t>
            </a:r>
          </a:p>
          <a:p>
            <a:pPr algn="l" marL="604519" indent="-30226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9" strike="noStrike" u="none">
                <a:solidFill>
                  <a:srgbClr val="263238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Faster training</a:t>
            </a:r>
          </a:p>
          <a:p>
            <a:pPr algn="l" marL="604519" indent="-30226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9" strike="noStrike" u="none">
                <a:solidFill>
                  <a:srgbClr val="263238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Some information loss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801605" y="5132143"/>
            <a:ext cx="1418788" cy="442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799">
                <a:solidFill>
                  <a:srgbClr val="2AB59D"/>
                </a:solidFill>
                <a:latin typeface="Poppins"/>
                <a:ea typeface="Poppins"/>
                <a:cs typeface="Poppins"/>
                <a:sym typeface="Poppins"/>
              </a:rPr>
              <a:t>chosen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541494" y="3823687"/>
            <a:ext cx="523488" cy="832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702"/>
              </a:lnSpc>
            </a:pPr>
            <a:r>
              <a:rPr lang="en-US" b="true" sz="7603" spc="-532">
                <a:solidFill>
                  <a:srgbClr val="000000"/>
                </a:solidFill>
                <a:latin typeface="Garet Heavy"/>
                <a:ea typeface="Garet Heavy"/>
                <a:cs typeface="Garet Heavy"/>
                <a:sym typeface="Garet Heavy"/>
              </a:rPr>
              <a:t>1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35060" y="7700999"/>
            <a:ext cx="523488" cy="832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702"/>
              </a:lnSpc>
            </a:pPr>
            <a:r>
              <a:rPr lang="en-US" b="true" sz="7603" spc="-532">
                <a:solidFill>
                  <a:srgbClr val="000000"/>
                </a:solidFill>
                <a:latin typeface="Garet Heavy"/>
                <a:ea typeface="Garet Heavy"/>
                <a:cs typeface="Garet Heavy"/>
                <a:sym typeface="Garet Heavy"/>
              </a:rPr>
              <a:t>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903543" y="7700999"/>
            <a:ext cx="523488" cy="832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702"/>
              </a:lnSpc>
            </a:pPr>
            <a:r>
              <a:rPr lang="en-US" b="true" sz="7603" spc="-532">
                <a:solidFill>
                  <a:srgbClr val="000000"/>
                </a:solidFill>
                <a:latin typeface="Garet Heavy"/>
                <a:ea typeface="Garet Heavy"/>
                <a:cs typeface="Garet Heavy"/>
                <a:sym typeface="Garet Heavy"/>
              </a:rPr>
              <a:t>3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876270" y="5646017"/>
            <a:ext cx="5714871" cy="1242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359"/>
              </a:lnSpc>
              <a:buAutoNum type="arabicPeriod" startAt="1"/>
            </a:pPr>
            <a:r>
              <a:rPr lang="en-US" b="true" sz="2799" i="true">
                <a:solidFill>
                  <a:srgbClr val="428CE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Achieved best </a:t>
            </a:r>
            <a:r>
              <a:rPr lang="en-US" b="true" sz="2799" i="true">
                <a:solidFill>
                  <a:srgbClr val="428CE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recall-F1 balance</a:t>
            </a:r>
          </a:p>
          <a:p>
            <a:pPr algn="l" marL="604519" indent="-302260" lvl="1">
              <a:lnSpc>
                <a:spcPts val="3359"/>
              </a:lnSpc>
              <a:buAutoNum type="arabicPeriod" startAt="1"/>
            </a:pPr>
            <a:r>
              <a:rPr lang="en-US" b="true" sz="2799" i="true">
                <a:solidFill>
                  <a:srgbClr val="428CE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Maintained data integrity</a:t>
            </a:r>
          </a:p>
          <a:p>
            <a:pPr algn="l" marL="604519" indent="-302260" lvl="1">
              <a:lnSpc>
                <a:spcPts val="3359"/>
              </a:lnSpc>
              <a:buAutoNum type="arabicPeriod" startAt="1"/>
            </a:pPr>
            <a:r>
              <a:rPr lang="en-US" b="true" sz="2799" i="true">
                <a:solidFill>
                  <a:srgbClr val="428CE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Most robust for fraud detection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40000" y="1455600"/>
            <a:ext cx="11556000" cy="544800"/>
            <a:chOff x="0" y="0"/>
            <a:chExt cx="15408000" cy="72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08021" cy="726440"/>
            </a:xfrm>
            <a:custGeom>
              <a:avLst/>
              <a:gdLst/>
              <a:ahLst/>
              <a:cxnLst/>
              <a:rect r="r" b="b" t="t" l="l"/>
              <a:pathLst>
                <a:path h="726440" w="15408021">
                  <a:moveTo>
                    <a:pt x="0" y="363220"/>
                  </a:moveTo>
                  <a:cubicBezTo>
                    <a:pt x="0" y="162560"/>
                    <a:pt x="162560" y="0"/>
                    <a:pt x="363220" y="0"/>
                  </a:cubicBezTo>
                  <a:lnTo>
                    <a:pt x="15044801" y="0"/>
                  </a:lnTo>
                  <a:cubicBezTo>
                    <a:pt x="15245335" y="0"/>
                    <a:pt x="15408021" y="162560"/>
                    <a:pt x="15408021" y="363220"/>
                  </a:cubicBezTo>
                  <a:cubicBezTo>
                    <a:pt x="15408021" y="563880"/>
                    <a:pt x="15245462" y="726440"/>
                    <a:pt x="15044801" y="726440"/>
                  </a:cubicBezTo>
                  <a:lnTo>
                    <a:pt x="363220" y="726440"/>
                  </a:lnTo>
                  <a:cubicBezTo>
                    <a:pt x="162560" y="726440"/>
                    <a:pt x="0" y="563753"/>
                    <a:pt x="0" y="363220"/>
                  </a:cubicBezTo>
                  <a:close/>
                </a:path>
              </a:pathLst>
            </a:custGeom>
            <a:solidFill>
              <a:srgbClr val="C7E7F9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4919400" y="-3139027"/>
            <a:ext cx="7114112" cy="8908817"/>
          </a:xfrm>
          <a:custGeom>
            <a:avLst/>
            <a:gdLst/>
            <a:ahLst/>
            <a:cxnLst/>
            <a:rect r="r" b="b" t="t" l="l"/>
            <a:pathLst>
              <a:path h="8908817" w="7114112">
                <a:moveTo>
                  <a:pt x="0" y="0"/>
                </a:moveTo>
                <a:lnTo>
                  <a:pt x="7114112" y="0"/>
                </a:lnTo>
                <a:lnTo>
                  <a:pt x="7114112" y="8908817"/>
                </a:lnTo>
                <a:lnTo>
                  <a:pt x="0" y="89088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5050524" y="7571062"/>
            <a:ext cx="10026446" cy="9786885"/>
          </a:xfrm>
          <a:custGeom>
            <a:avLst/>
            <a:gdLst/>
            <a:ahLst/>
            <a:cxnLst/>
            <a:rect r="r" b="b" t="t" l="l"/>
            <a:pathLst>
              <a:path h="9786885" w="10026446">
                <a:moveTo>
                  <a:pt x="0" y="0"/>
                </a:moveTo>
                <a:lnTo>
                  <a:pt x="10026447" y="0"/>
                </a:lnTo>
                <a:lnTo>
                  <a:pt x="10026447" y="9786885"/>
                </a:lnTo>
                <a:lnTo>
                  <a:pt x="0" y="97868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972367" y="346900"/>
            <a:ext cx="748226" cy="2217400"/>
          </a:xfrm>
          <a:custGeom>
            <a:avLst/>
            <a:gdLst/>
            <a:ahLst/>
            <a:cxnLst/>
            <a:rect r="r" b="b" t="t" l="l"/>
            <a:pathLst>
              <a:path h="2217400" w="748226">
                <a:moveTo>
                  <a:pt x="0" y="0"/>
                </a:moveTo>
                <a:lnTo>
                  <a:pt x="748226" y="0"/>
                </a:lnTo>
                <a:lnTo>
                  <a:pt x="748226" y="2217400"/>
                </a:lnTo>
                <a:lnTo>
                  <a:pt x="0" y="22174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92317" y="7008956"/>
            <a:ext cx="714488" cy="502819"/>
          </a:xfrm>
          <a:custGeom>
            <a:avLst/>
            <a:gdLst/>
            <a:ahLst/>
            <a:cxnLst/>
            <a:rect r="r" b="b" t="t" l="l"/>
            <a:pathLst>
              <a:path h="502819" w="714488">
                <a:moveTo>
                  <a:pt x="0" y="0"/>
                </a:moveTo>
                <a:lnTo>
                  <a:pt x="714488" y="0"/>
                </a:lnTo>
                <a:lnTo>
                  <a:pt x="714488" y="502819"/>
                </a:lnTo>
                <a:lnTo>
                  <a:pt x="0" y="50281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055200" y="7063103"/>
            <a:ext cx="1487217" cy="703048"/>
          </a:xfrm>
          <a:custGeom>
            <a:avLst/>
            <a:gdLst/>
            <a:ahLst/>
            <a:cxnLst/>
            <a:rect r="r" b="b" t="t" l="l"/>
            <a:pathLst>
              <a:path h="703048" w="1487217">
                <a:moveTo>
                  <a:pt x="0" y="0"/>
                </a:moveTo>
                <a:lnTo>
                  <a:pt x="1487217" y="0"/>
                </a:lnTo>
                <a:lnTo>
                  <a:pt x="1487217" y="703048"/>
                </a:lnTo>
                <a:lnTo>
                  <a:pt x="0" y="70304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996730" y="5831324"/>
            <a:ext cx="3042649" cy="2157515"/>
          </a:xfrm>
          <a:custGeom>
            <a:avLst/>
            <a:gdLst/>
            <a:ahLst/>
            <a:cxnLst/>
            <a:rect r="r" b="b" t="t" l="l"/>
            <a:pathLst>
              <a:path h="2157515" w="3042649">
                <a:moveTo>
                  <a:pt x="0" y="0"/>
                </a:moveTo>
                <a:lnTo>
                  <a:pt x="3042649" y="0"/>
                </a:lnTo>
                <a:lnTo>
                  <a:pt x="3042649" y="2157515"/>
                </a:lnTo>
                <a:lnTo>
                  <a:pt x="0" y="215751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531425" y="866625"/>
            <a:ext cx="10316119" cy="969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6400">
                <a:solidFill>
                  <a:srgbClr val="263238"/>
                </a:solidFill>
                <a:latin typeface="Lulu Font TH"/>
                <a:ea typeface="Lulu Font TH"/>
                <a:cs typeface="Lulu Font TH"/>
                <a:sym typeface="Lulu Font TH"/>
              </a:rPr>
              <a:t>MODEL EVALUATION </a:t>
            </a:r>
            <a:r>
              <a:rPr lang="en-US" sz="6400">
                <a:solidFill>
                  <a:srgbClr val="263238"/>
                </a:solidFill>
                <a:latin typeface="Lulu Font TH"/>
                <a:ea typeface="Lulu Font TH"/>
                <a:cs typeface="Lulu Font TH"/>
                <a:sym typeface="Lulu Font TH"/>
              </a:rPr>
              <a:t>RESULTS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049917" y="2592557"/>
            <a:ext cx="4901000" cy="440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076"/>
              </a:lnSpc>
              <a:spcBef>
                <a:spcPct val="0"/>
              </a:spcBef>
            </a:pPr>
            <a:r>
              <a:rPr lang="en-US" b="true" sz="4102" spc="-287" strike="noStrike" u="none">
                <a:solidFill>
                  <a:srgbClr val="364FAB"/>
                </a:solidFill>
                <a:latin typeface="Garet Heavy"/>
                <a:ea typeface="Garet Heavy"/>
                <a:cs typeface="Garet Heavy"/>
                <a:sym typeface="Garet Heavy"/>
              </a:rPr>
              <a:t>Algorithms Tested: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049917" y="3108311"/>
            <a:ext cx="7608125" cy="2927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263238"/>
                </a:solidFill>
                <a:latin typeface="Poppins"/>
                <a:ea typeface="Poppins"/>
                <a:cs typeface="Poppins"/>
                <a:sym typeface="Poppins"/>
              </a:rPr>
              <a:t>1. Logistic R</a:t>
            </a:r>
            <a:r>
              <a:rPr lang="en-US" sz="2799">
                <a:solidFill>
                  <a:srgbClr val="263238"/>
                </a:solidFill>
                <a:latin typeface="Poppins"/>
                <a:ea typeface="Poppins"/>
                <a:cs typeface="Poppins"/>
                <a:sym typeface="Poppins"/>
              </a:rPr>
              <a:t>egression (Baseline)</a:t>
            </a:r>
          </a:p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263238"/>
                </a:solidFill>
                <a:latin typeface="Poppins"/>
                <a:ea typeface="Poppins"/>
                <a:cs typeface="Poppins"/>
                <a:sym typeface="Poppins"/>
              </a:rPr>
              <a:t>2. Decision Tree (Interpretable)</a:t>
            </a:r>
          </a:p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263238"/>
                </a:solidFill>
                <a:latin typeface="Poppins"/>
                <a:ea typeface="Poppins"/>
                <a:cs typeface="Poppins"/>
                <a:sym typeface="Poppins"/>
              </a:rPr>
              <a:t>3. Random Forest (Ensemble)</a:t>
            </a:r>
          </a:p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263238"/>
                </a:solidFill>
                <a:latin typeface="Poppins"/>
                <a:ea typeface="Poppins"/>
                <a:cs typeface="Poppins"/>
                <a:sym typeface="Poppins"/>
              </a:rPr>
              <a:t>4. Gradient Boosting (Sequential)</a:t>
            </a:r>
          </a:p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263238"/>
                </a:solidFill>
                <a:latin typeface="Poppins"/>
                <a:ea typeface="Poppins"/>
                <a:cs typeface="Poppins"/>
                <a:sym typeface="Poppins"/>
              </a:rPr>
              <a:t>5. SVM (Support Vector Machine)</a:t>
            </a:r>
          </a:p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263238"/>
                </a:solidFill>
                <a:latin typeface="Poppins"/>
                <a:ea typeface="Poppins"/>
                <a:cs typeface="Poppins"/>
                <a:sym typeface="Poppins"/>
              </a:rPr>
              <a:t>6. Naive Bayes &amp; KNN (Comparisons)</a:t>
            </a:r>
          </a:p>
          <a:p>
            <a:pPr algn="l">
              <a:lnSpc>
                <a:spcPts val="3359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919184" y="7144443"/>
            <a:ext cx="6401101" cy="2513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263238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799">
                <a:solidFill>
                  <a:srgbClr val="263238"/>
                </a:solidFill>
                <a:latin typeface="Poppins"/>
                <a:ea typeface="Poppins"/>
                <a:cs typeface="Poppins"/>
                <a:sym typeface="Poppins"/>
              </a:rPr>
              <a:t>andom Forest (SMOTE): 0.7156</a:t>
            </a: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263238"/>
                </a:solidFill>
                <a:latin typeface="Poppins"/>
                <a:ea typeface="Poppins"/>
                <a:cs typeface="Poppins"/>
                <a:sym typeface="Poppins"/>
              </a:rPr>
              <a:t>Gradient Boosting: 0.6465</a:t>
            </a: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263238"/>
                </a:solidFill>
                <a:latin typeface="Poppins"/>
                <a:ea typeface="Poppins"/>
                <a:cs typeface="Poppins"/>
                <a:sym typeface="Poppins"/>
              </a:rPr>
              <a:t>Logistic Regression: 0.6481</a:t>
            </a: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263238"/>
                </a:solidFill>
                <a:latin typeface="Poppins"/>
                <a:ea typeface="Poppins"/>
                <a:cs typeface="Poppins"/>
                <a:sym typeface="Poppins"/>
              </a:rPr>
              <a:t>SVM(Linear): 0.6316</a:t>
            </a: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263238"/>
                </a:solidFill>
                <a:latin typeface="Poppins"/>
                <a:ea typeface="Poppins"/>
                <a:cs typeface="Poppins"/>
                <a:sym typeface="Poppins"/>
              </a:rPr>
              <a:t>SVM(RBF): 0.6286</a:t>
            </a: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263238"/>
                </a:solidFill>
                <a:latin typeface="Poppins"/>
                <a:ea typeface="Poppins"/>
                <a:cs typeface="Poppins"/>
                <a:sym typeface="Poppins"/>
              </a:rPr>
              <a:t>Decision Tree: 0.6545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039379" y="6596759"/>
            <a:ext cx="4728420" cy="2927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263238"/>
                </a:solidFill>
                <a:latin typeface="Poppins"/>
                <a:ea typeface="Poppins"/>
                <a:cs typeface="Poppins"/>
                <a:sym typeface="Poppins"/>
              </a:rPr>
              <a:t>High</a:t>
            </a:r>
            <a:r>
              <a:rPr lang="en-US" sz="2799">
                <a:solidFill>
                  <a:srgbClr val="263238"/>
                </a:solidFill>
                <a:latin typeface="Poppins"/>
                <a:ea typeface="Poppins"/>
                <a:cs typeface="Poppins"/>
                <a:sym typeface="Poppins"/>
              </a:rPr>
              <a:t>est F1-Score (0.7156)</a:t>
            </a: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263238"/>
                </a:solidFill>
                <a:latin typeface="Poppins"/>
                <a:ea typeface="Poppins"/>
                <a:cs typeface="Poppins"/>
                <a:sym typeface="Poppins"/>
              </a:rPr>
              <a:t>Best recall (0.7647) - critical for fraud</a:t>
            </a: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263238"/>
                </a:solidFill>
                <a:latin typeface="Poppins"/>
                <a:ea typeface="Poppins"/>
                <a:cs typeface="Poppins"/>
                <a:sym typeface="Poppins"/>
              </a:rPr>
              <a:t>Good interpretability via feature importance</a:t>
            </a: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263238"/>
                </a:solidFill>
                <a:latin typeface="Poppins"/>
                <a:ea typeface="Poppins"/>
                <a:cs typeface="Poppins"/>
                <a:sym typeface="Poppins"/>
              </a:rPr>
              <a:t>Robust to overfitting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10510" y="6627956"/>
            <a:ext cx="8973004" cy="440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076"/>
              </a:lnSpc>
              <a:spcBef>
                <a:spcPct val="0"/>
              </a:spcBef>
            </a:pPr>
            <a:r>
              <a:rPr lang="en-US" b="true" sz="4102" spc="-287">
                <a:solidFill>
                  <a:srgbClr val="364FAB"/>
                </a:solidFill>
                <a:latin typeface="Garet Heavy"/>
                <a:ea typeface="Garet Heavy"/>
                <a:cs typeface="Garet Heavy"/>
                <a:sym typeface="Garet Heavy"/>
              </a:rPr>
              <a:t>Va</a:t>
            </a:r>
            <a:r>
              <a:rPr lang="en-US" b="true" sz="4102" spc="-287" strike="noStrike" u="none">
                <a:solidFill>
                  <a:srgbClr val="364FAB"/>
                </a:solidFill>
                <a:latin typeface="Garet Heavy"/>
                <a:ea typeface="Garet Heavy"/>
                <a:cs typeface="Garet Heavy"/>
                <a:sym typeface="Garet Heavy"/>
              </a:rPr>
              <a:t>li</a:t>
            </a:r>
            <a:r>
              <a:rPr lang="en-US" b="true" sz="4102" spc="-287" strike="noStrike" u="none">
                <a:solidFill>
                  <a:srgbClr val="364FAB"/>
                </a:solidFill>
                <a:latin typeface="Garet Heavy"/>
                <a:ea typeface="Garet Heavy"/>
                <a:cs typeface="Garet Heavy"/>
                <a:sym typeface="Garet Heavy"/>
              </a:rPr>
              <a:t>da</a:t>
            </a:r>
            <a:r>
              <a:rPr lang="en-US" b="true" sz="4102" spc="-287" strike="noStrike" u="none">
                <a:solidFill>
                  <a:srgbClr val="364FAB"/>
                </a:solidFill>
                <a:latin typeface="Garet Heavy"/>
                <a:ea typeface="Garet Heavy"/>
                <a:cs typeface="Garet Heavy"/>
                <a:sym typeface="Garet Heavy"/>
              </a:rPr>
              <a:t>t</a:t>
            </a:r>
            <a:r>
              <a:rPr lang="en-US" b="true" sz="4102" spc="-287" strike="noStrike" u="none">
                <a:solidFill>
                  <a:srgbClr val="364FAB"/>
                </a:solidFill>
                <a:latin typeface="Garet Heavy"/>
                <a:ea typeface="Garet Heavy"/>
                <a:cs typeface="Garet Heavy"/>
                <a:sym typeface="Garet Heavy"/>
              </a:rPr>
              <a:t>ion Perfor</a:t>
            </a:r>
            <a:r>
              <a:rPr lang="en-US" b="true" sz="4102" spc="-287" strike="noStrike" u="none">
                <a:solidFill>
                  <a:srgbClr val="364FAB"/>
                </a:solidFill>
                <a:latin typeface="Garet Heavy"/>
                <a:ea typeface="Garet Heavy"/>
                <a:cs typeface="Garet Heavy"/>
                <a:sym typeface="Garet Heavy"/>
              </a:rPr>
              <a:t>m</a:t>
            </a:r>
            <a:r>
              <a:rPr lang="en-US" b="true" sz="4102" spc="-287" strike="noStrike" u="none">
                <a:solidFill>
                  <a:srgbClr val="364FAB"/>
                </a:solidFill>
                <a:latin typeface="Garet Heavy"/>
                <a:ea typeface="Garet Heavy"/>
                <a:cs typeface="Garet Heavy"/>
                <a:sym typeface="Garet Heavy"/>
              </a:rPr>
              <a:t>ance</a:t>
            </a:r>
            <a:r>
              <a:rPr lang="en-US" b="true" sz="4102" spc="-287" strike="noStrike" u="none">
                <a:solidFill>
                  <a:srgbClr val="364FAB"/>
                </a:solidFill>
                <a:latin typeface="Garet Heavy"/>
                <a:ea typeface="Garet Heavy"/>
                <a:cs typeface="Garet Heavy"/>
                <a:sym typeface="Garet Heavy"/>
              </a:rPr>
              <a:t> </a:t>
            </a:r>
            <a:r>
              <a:rPr lang="en-US" b="true" sz="4102" spc="-287" strike="noStrike" u="none">
                <a:solidFill>
                  <a:srgbClr val="364FAB"/>
                </a:solidFill>
                <a:latin typeface="Garet Heavy"/>
                <a:ea typeface="Garet Heavy"/>
                <a:cs typeface="Garet Heavy"/>
                <a:sym typeface="Garet Heavy"/>
              </a:rPr>
              <a:t>(F1-Scor</a:t>
            </a:r>
            <a:r>
              <a:rPr lang="en-US" b="true" sz="4102" spc="-287" strike="noStrike" u="none">
                <a:solidFill>
                  <a:srgbClr val="364FAB"/>
                </a:solidFill>
                <a:latin typeface="Garet Heavy"/>
                <a:ea typeface="Garet Heavy"/>
                <a:cs typeface="Garet Heavy"/>
                <a:sym typeface="Garet Heavy"/>
              </a:rPr>
              <a:t>e</a:t>
            </a:r>
            <a:r>
              <a:rPr lang="en-US" b="true" sz="4102" spc="-287" strike="noStrike" u="none">
                <a:solidFill>
                  <a:srgbClr val="364FAB"/>
                </a:solidFill>
                <a:latin typeface="Garet Heavy"/>
                <a:ea typeface="Garet Heavy"/>
                <a:cs typeface="Garet Heavy"/>
                <a:sym typeface="Garet Heavy"/>
              </a:rPr>
              <a:t>)</a:t>
            </a:r>
            <a:r>
              <a:rPr lang="en-US" b="true" sz="4102" spc="-287" strike="noStrike" u="none">
                <a:solidFill>
                  <a:srgbClr val="364FAB"/>
                </a:solidFill>
                <a:latin typeface="Garet Heavy"/>
                <a:ea typeface="Garet Heavy"/>
                <a:cs typeface="Garet Heavy"/>
                <a:sym typeface="Garet Heavy"/>
              </a:rPr>
              <a:t>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709850" y="7125118"/>
            <a:ext cx="2094869" cy="540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9"/>
              </a:lnSpc>
              <a:spcBef>
                <a:spcPct val="0"/>
              </a:spcBef>
            </a:pPr>
            <a:r>
              <a:rPr lang="en-US" b="true" sz="3399">
                <a:solidFill>
                  <a:srgbClr val="428CE4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SELECTED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039379" y="5689802"/>
            <a:ext cx="5390114" cy="935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02"/>
              </a:lnSpc>
            </a:pPr>
            <a:r>
              <a:rPr lang="en-US" b="true" sz="4670" spc="-326">
                <a:solidFill>
                  <a:srgbClr val="364FAB"/>
                </a:solidFill>
                <a:latin typeface="Garet Heavy"/>
                <a:ea typeface="Garet Heavy"/>
                <a:cs typeface="Garet Heavy"/>
                <a:sym typeface="Garet Heavy"/>
              </a:rPr>
              <a:t>Why </a:t>
            </a:r>
          </a:p>
          <a:p>
            <a:pPr algn="just" marL="0" indent="0" lvl="0">
              <a:lnSpc>
                <a:spcPts val="3502"/>
              </a:lnSpc>
              <a:spcBef>
                <a:spcPct val="0"/>
              </a:spcBef>
            </a:pPr>
            <a:r>
              <a:rPr lang="en-US" b="true" sz="4670" spc="-326">
                <a:solidFill>
                  <a:srgbClr val="364FAB"/>
                </a:solidFill>
                <a:latin typeface="Garet Heavy"/>
                <a:ea typeface="Garet Heavy"/>
                <a:cs typeface="Garet Heavy"/>
                <a:sym typeface="Garet Heavy"/>
              </a:rPr>
              <a:t>Random Forest?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98229" y="1083925"/>
            <a:ext cx="11556000" cy="544800"/>
            <a:chOff x="0" y="0"/>
            <a:chExt cx="15408000" cy="72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08021" cy="726440"/>
            </a:xfrm>
            <a:custGeom>
              <a:avLst/>
              <a:gdLst/>
              <a:ahLst/>
              <a:cxnLst/>
              <a:rect r="r" b="b" t="t" l="l"/>
              <a:pathLst>
                <a:path h="726440" w="15408021">
                  <a:moveTo>
                    <a:pt x="0" y="363220"/>
                  </a:moveTo>
                  <a:cubicBezTo>
                    <a:pt x="0" y="162560"/>
                    <a:pt x="162560" y="0"/>
                    <a:pt x="363220" y="0"/>
                  </a:cubicBezTo>
                  <a:lnTo>
                    <a:pt x="15044801" y="0"/>
                  </a:lnTo>
                  <a:cubicBezTo>
                    <a:pt x="15245335" y="0"/>
                    <a:pt x="15408021" y="162560"/>
                    <a:pt x="15408021" y="363220"/>
                  </a:cubicBezTo>
                  <a:cubicBezTo>
                    <a:pt x="15408021" y="563880"/>
                    <a:pt x="15245462" y="726440"/>
                    <a:pt x="15044801" y="726440"/>
                  </a:cubicBezTo>
                  <a:lnTo>
                    <a:pt x="363220" y="726440"/>
                  </a:lnTo>
                  <a:cubicBezTo>
                    <a:pt x="162560" y="726440"/>
                    <a:pt x="0" y="563753"/>
                    <a:pt x="0" y="363220"/>
                  </a:cubicBezTo>
                  <a:close/>
                </a:path>
              </a:pathLst>
            </a:custGeom>
            <a:solidFill>
              <a:srgbClr val="C7E7F9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1406070" y="-7301284"/>
            <a:ext cx="9938273" cy="9938273"/>
          </a:xfrm>
          <a:custGeom>
            <a:avLst/>
            <a:gdLst/>
            <a:ahLst/>
            <a:cxnLst/>
            <a:rect r="r" b="b" t="t" l="l"/>
            <a:pathLst>
              <a:path h="9938273" w="9938273">
                <a:moveTo>
                  <a:pt x="0" y="0"/>
                </a:moveTo>
                <a:lnTo>
                  <a:pt x="9938273" y="0"/>
                </a:lnTo>
                <a:lnTo>
                  <a:pt x="9938273" y="9938273"/>
                </a:lnTo>
                <a:lnTo>
                  <a:pt x="0" y="99382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965090" y="3093002"/>
            <a:ext cx="506196" cy="506196"/>
          </a:xfrm>
          <a:custGeom>
            <a:avLst/>
            <a:gdLst/>
            <a:ahLst/>
            <a:cxnLst/>
            <a:rect r="r" b="b" t="t" l="l"/>
            <a:pathLst>
              <a:path h="506196" w="506196">
                <a:moveTo>
                  <a:pt x="0" y="0"/>
                </a:moveTo>
                <a:lnTo>
                  <a:pt x="506196" y="0"/>
                </a:lnTo>
                <a:lnTo>
                  <a:pt x="506196" y="506196"/>
                </a:lnTo>
                <a:lnTo>
                  <a:pt x="0" y="5061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144000" y="2769035"/>
            <a:ext cx="8789752" cy="5768274"/>
          </a:xfrm>
          <a:custGeom>
            <a:avLst/>
            <a:gdLst/>
            <a:ahLst/>
            <a:cxnLst/>
            <a:rect r="r" b="b" t="t" l="l"/>
            <a:pathLst>
              <a:path h="5768274" w="8789752">
                <a:moveTo>
                  <a:pt x="0" y="0"/>
                </a:moveTo>
                <a:lnTo>
                  <a:pt x="8789752" y="0"/>
                </a:lnTo>
                <a:lnTo>
                  <a:pt x="8789752" y="5768275"/>
                </a:lnTo>
                <a:lnTo>
                  <a:pt x="0" y="57682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06345" y="5501319"/>
            <a:ext cx="5645291" cy="1270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9" strike="noStrike" u="none">
                <a:solidFill>
                  <a:srgbClr val="26323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Base RF F1-Score: </a:t>
            </a:r>
            <a:r>
              <a:rPr lang="en-US" b="true" sz="2799" strike="noStrike" u="none">
                <a:solidFill>
                  <a:srgbClr val="26323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0.71</a:t>
            </a:r>
            <a:r>
              <a:rPr lang="en-US" b="true" sz="2799" strike="noStrike" u="none">
                <a:solidFill>
                  <a:srgbClr val="26323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56</a:t>
            </a:r>
          </a:p>
          <a:p>
            <a:pPr algn="l" marL="604519" indent="-30226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9" strike="noStrike" u="none">
                <a:solidFill>
                  <a:srgbClr val="26323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Tuned RF F1-Score: </a:t>
            </a:r>
            <a:r>
              <a:rPr lang="en-US" b="true" sz="2799" strike="noStrike" u="none">
                <a:solidFill>
                  <a:srgbClr val="26323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0.</a:t>
            </a:r>
            <a:r>
              <a:rPr lang="en-US" b="true" sz="2799" strike="noStrike" u="none">
                <a:solidFill>
                  <a:srgbClr val="26323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6</a:t>
            </a:r>
            <a:r>
              <a:rPr lang="en-US" b="true" sz="2799" strike="noStrike" u="none">
                <a:solidFill>
                  <a:srgbClr val="26323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7</a:t>
            </a:r>
            <a:r>
              <a:rPr lang="en-US" b="true" sz="2799" strike="noStrike" u="none">
                <a:solidFill>
                  <a:srgbClr val="26323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69</a:t>
            </a:r>
          </a:p>
          <a:p>
            <a:pPr algn="l" marL="604519" indent="-30226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9" strike="noStrike" u="none">
                <a:solidFill>
                  <a:srgbClr val="26323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Improvement: +3.3%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06345" y="4813515"/>
            <a:ext cx="6583768" cy="538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20"/>
              </a:lnSpc>
              <a:spcBef>
                <a:spcPct val="0"/>
              </a:spcBef>
            </a:pPr>
            <a:r>
              <a:rPr lang="en-US" b="true" sz="3600" strike="noStrike" u="none">
                <a:solidFill>
                  <a:srgbClr val="263238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Performance Improvement: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03723" y="1940588"/>
            <a:ext cx="4389136" cy="538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3600">
                <a:solidFill>
                  <a:srgbClr val="263238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B</a:t>
            </a:r>
            <a:r>
              <a:rPr lang="en-US" b="true" sz="3600">
                <a:solidFill>
                  <a:srgbClr val="263238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est Parameters: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03723" y="2580938"/>
            <a:ext cx="4556668" cy="2099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799">
                <a:solidFill>
                  <a:srgbClr val="26323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{</a:t>
            </a:r>
            <a:r>
              <a:rPr lang="en-US" b="true" sz="2799" strike="noStrike" u="none">
                <a:solidFill>
                  <a:srgbClr val="26323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'max_depth': 10, 'max_features': 'sqrt', 'min_samples_leaf': 2, 'min_samples_split': 5, 'n_estimators': 100}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689654" y="494950"/>
            <a:ext cx="10311201" cy="969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6400">
                <a:solidFill>
                  <a:srgbClr val="263238"/>
                </a:solidFill>
                <a:latin typeface="Lulu Font TH"/>
                <a:ea typeface="Lulu Font TH"/>
                <a:cs typeface="Lulu Font TH"/>
                <a:sym typeface="Lulu Font TH"/>
              </a:rPr>
              <a:t>O</a:t>
            </a:r>
            <a:r>
              <a:rPr lang="en-US" sz="6400">
                <a:solidFill>
                  <a:srgbClr val="263238"/>
                </a:solidFill>
                <a:latin typeface="Lulu Font TH"/>
                <a:ea typeface="Lulu Font TH"/>
                <a:cs typeface="Lulu Font TH"/>
                <a:sym typeface="Lulu Font TH"/>
              </a:rPr>
              <a:t>PTIMIZING RANDOM FOREST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06345" y="6905635"/>
            <a:ext cx="7480939" cy="538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20"/>
              </a:lnSpc>
              <a:spcBef>
                <a:spcPct val="0"/>
              </a:spcBef>
            </a:pPr>
            <a:r>
              <a:rPr lang="en-US" b="true" sz="3600" strike="noStrike" u="none">
                <a:solidFill>
                  <a:srgbClr val="263238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Feature Importance (Top 5):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890175" y="1488312"/>
            <a:ext cx="5910159" cy="452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076"/>
              </a:lnSpc>
              <a:spcBef>
                <a:spcPct val="0"/>
              </a:spcBef>
            </a:pPr>
            <a:r>
              <a:rPr lang="en-US" b="true" sz="4102" spc="-287" strike="noStrike" u="none">
                <a:solidFill>
                  <a:srgbClr val="364FAB"/>
                </a:solidFill>
                <a:latin typeface="Garet Heavy"/>
                <a:ea typeface="Garet Heavy"/>
                <a:cs typeface="Garet Heavy"/>
                <a:sym typeface="Garet Heavy"/>
              </a:rPr>
              <a:t>Grid Search CV Results: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0" y="7537773"/>
            <a:ext cx="9763710" cy="2513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359"/>
              </a:lnSpc>
              <a:spcBef>
                <a:spcPct val="0"/>
              </a:spcBef>
              <a:buAutoNum type="arabicPeriod" startAt="1"/>
            </a:pPr>
            <a:r>
              <a:rPr lang="en-US" b="true" sz="2799" strike="noStrike" u="none">
                <a:solidFill>
                  <a:srgbClr val="26323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Claims_InscClaimAmtReimbursed_sum: 0.1724</a:t>
            </a:r>
            <a:r>
              <a:rPr lang="en-US" b="true" sz="2799" strike="noStrike" u="none">
                <a:solidFill>
                  <a:srgbClr val="26323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 </a:t>
            </a:r>
          </a:p>
          <a:p>
            <a:pPr algn="l" marL="604519" indent="-302260" lvl="1">
              <a:lnSpc>
                <a:spcPts val="3359"/>
              </a:lnSpc>
              <a:spcBef>
                <a:spcPct val="0"/>
              </a:spcBef>
              <a:buAutoNum type="arabicPeriod" startAt="1"/>
            </a:pPr>
            <a:r>
              <a:rPr lang="en-US" b="true" sz="2799" strike="noStrike" u="none">
                <a:solidFill>
                  <a:srgbClr val="26323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Claims_ClaimDuration_max: 0.1319</a:t>
            </a:r>
            <a:r>
              <a:rPr lang="en-US" b="true" sz="2799" strike="noStrike" u="none">
                <a:solidFill>
                  <a:srgbClr val="26323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</a:p>
          <a:p>
            <a:pPr algn="l" marL="604519" indent="-302260" lvl="1">
              <a:lnSpc>
                <a:spcPts val="3359"/>
              </a:lnSpc>
              <a:spcBef>
                <a:spcPct val="0"/>
              </a:spcBef>
              <a:buAutoNum type="arabicPeriod" startAt="1"/>
            </a:pPr>
            <a:r>
              <a:rPr lang="en-US" b="true" sz="2799" strike="noStrike" u="none">
                <a:solidFill>
                  <a:srgbClr val="26323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Claims_DeductibleAmtPaid_sum: 0.0912 </a:t>
            </a:r>
            <a:r>
              <a:rPr lang="en-US" b="true" sz="2799" strike="noStrike" u="none">
                <a:solidFill>
                  <a:srgbClr val="26323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</a:p>
          <a:p>
            <a:pPr algn="l" marL="604519" indent="-302260" lvl="1">
              <a:lnSpc>
                <a:spcPts val="3359"/>
              </a:lnSpc>
              <a:spcBef>
                <a:spcPct val="0"/>
              </a:spcBef>
              <a:buAutoNum type="arabicPeriod" startAt="1"/>
            </a:pPr>
            <a:r>
              <a:rPr lang="en-US" b="true" sz="2799" strike="noStrike" u="none">
                <a:solidFill>
                  <a:srgbClr val="26323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Beneficiary_TotalAnnualReimbursement_sum: 0.0546</a:t>
            </a:r>
            <a:r>
              <a:rPr lang="en-US" b="true" sz="2799" strike="noStrike" u="none">
                <a:solidFill>
                  <a:srgbClr val="26323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en-US" b="true" sz="2799" strike="noStrike" u="none">
                <a:solidFill>
                  <a:srgbClr val="26323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</a:p>
          <a:p>
            <a:pPr algn="l" marL="604519" indent="-302260" lvl="1">
              <a:lnSpc>
                <a:spcPts val="3359"/>
              </a:lnSpc>
              <a:spcBef>
                <a:spcPct val="0"/>
              </a:spcBef>
              <a:buAutoNum type="arabicPeriod" startAt="1"/>
            </a:pPr>
            <a:r>
              <a:rPr lang="en-US" b="true" sz="2799" strike="noStrike" u="none">
                <a:solidFill>
                  <a:srgbClr val="26323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Claims_InscClaimAmtReimbursed_max: 0.0458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40000" y="1455600"/>
            <a:ext cx="11556000" cy="544800"/>
            <a:chOff x="0" y="0"/>
            <a:chExt cx="15408000" cy="72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08021" cy="726440"/>
            </a:xfrm>
            <a:custGeom>
              <a:avLst/>
              <a:gdLst/>
              <a:ahLst/>
              <a:cxnLst/>
              <a:rect r="r" b="b" t="t" l="l"/>
              <a:pathLst>
                <a:path h="726440" w="15408021">
                  <a:moveTo>
                    <a:pt x="0" y="363220"/>
                  </a:moveTo>
                  <a:cubicBezTo>
                    <a:pt x="0" y="162560"/>
                    <a:pt x="162560" y="0"/>
                    <a:pt x="363220" y="0"/>
                  </a:cubicBezTo>
                  <a:lnTo>
                    <a:pt x="15044801" y="0"/>
                  </a:lnTo>
                  <a:cubicBezTo>
                    <a:pt x="15245335" y="0"/>
                    <a:pt x="15408021" y="162560"/>
                    <a:pt x="15408021" y="363220"/>
                  </a:cubicBezTo>
                  <a:cubicBezTo>
                    <a:pt x="15408021" y="563880"/>
                    <a:pt x="15245462" y="726440"/>
                    <a:pt x="15044801" y="726440"/>
                  </a:cubicBezTo>
                  <a:lnTo>
                    <a:pt x="363220" y="726440"/>
                  </a:lnTo>
                  <a:cubicBezTo>
                    <a:pt x="162560" y="726440"/>
                    <a:pt x="0" y="563753"/>
                    <a:pt x="0" y="363220"/>
                  </a:cubicBezTo>
                  <a:close/>
                </a:path>
              </a:pathLst>
            </a:custGeom>
            <a:solidFill>
              <a:srgbClr val="C7E7F9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4919400" y="-3139027"/>
            <a:ext cx="7114112" cy="8908817"/>
          </a:xfrm>
          <a:custGeom>
            <a:avLst/>
            <a:gdLst/>
            <a:ahLst/>
            <a:cxnLst/>
            <a:rect r="r" b="b" t="t" l="l"/>
            <a:pathLst>
              <a:path h="8908817" w="7114112">
                <a:moveTo>
                  <a:pt x="0" y="0"/>
                </a:moveTo>
                <a:lnTo>
                  <a:pt x="7114112" y="0"/>
                </a:lnTo>
                <a:lnTo>
                  <a:pt x="7114112" y="8908817"/>
                </a:lnTo>
                <a:lnTo>
                  <a:pt x="0" y="89088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189310" y="4725240"/>
            <a:ext cx="10619417" cy="4922415"/>
          </a:xfrm>
          <a:custGeom>
            <a:avLst/>
            <a:gdLst/>
            <a:ahLst/>
            <a:cxnLst/>
            <a:rect r="r" b="b" t="t" l="l"/>
            <a:pathLst>
              <a:path h="4922415" w="10619417">
                <a:moveTo>
                  <a:pt x="0" y="0"/>
                </a:moveTo>
                <a:lnTo>
                  <a:pt x="10619417" y="0"/>
                </a:lnTo>
                <a:lnTo>
                  <a:pt x="10619417" y="4922415"/>
                </a:lnTo>
                <a:lnTo>
                  <a:pt x="0" y="49224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94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31425" y="866625"/>
            <a:ext cx="7680179" cy="969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6400">
                <a:solidFill>
                  <a:srgbClr val="263238"/>
                </a:solidFill>
                <a:latin typeface="Lulu Font TH"/>
                <a:ea typeface="Lulu Font TH"/>
                <a:cs typeface="Lulu Font TH"/>
                <a:sym typeface="Lulu Font TH"/>
              </a:rPr>
              <a:t>TEST SET EVALUATION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31425" y="3045962"/>
            <a:ext cx="5605400" cy="440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076"/>
              </a:lnSpc>
              <a:spcBef>
                <a:spcPct val="0"/>
              </a:spcBef>
            </a:pPr>
            <a:r>
              <a:rPr lang="en-US" b="true" sz="4102" spc="-287">
                <a:solidFill>
                  <a:srgbClr val="364FAB"/>
                </a:solidFill>
                <a:latin typeface="Garet Heavy"/>
                <a:ea typeface="Garet Heavy"/>
                <a:cs typeface="Garet Heavy"/>
                <a:sym typeface="Garet Heavy"/>
              </a:rPr>
              <a:t>Perf</a:t>
            </a:r>
            <a:r>
              <a:rPr lang="en-US" b="true" sz="4102" spc="-287" strike="noStrike" u="none">
                <a:solidFill>
                  <a:srgbClr val="364FAB"/>
                </a:solidFill>
                <a:latin typeface="Garet Heavy"/>
                <a:ea typeface="Garet Heavy"/>
                <a:cs typeface="Garet Heavy"/>
                <a:sym typeface="Garet Heavy"/>
              </a:rPr>
              <a:t>orm</a:t>
            </a:r>
            <a:r>
              <a:rPr lang="en-US" b="true" sz="4102" spc="-287" strike="noStrike" u="none">
                <a:solidFill>
                  <a:srgbClr val="364FAB"/>
                </a:solidFill>
                <a:latin typeface="Garet Heavy"/>
                <a:ea typeface="Garet Heavy"/>
                <a:cs typeface="Garet Heavy"/>
                <a:sym typeface="Garet Heavy"/>
              </a:rPr>
              <a:t>ance</a:t>
            </a:r>
            <a:r>
              <a:rPr lang="en-US" b="true" sz="4102" spc="-287" strike="noStrike" u="none">
                <a:solidFill>
                  <a:srgbClr val="364FAB"/>
                </a:solidFill>
                <a:latin typeface="Garet Heavy"/>
                <a:ea typeface="Garet Heavy"/>
                <a:cs typeface="Garet Heavy"/>
                <a:sym typeface="Garet Heavy"/>
              </a:rPr>
              <a:t> </a:t>
            </a:r>
            <a:r>
              <a:rPr lang="en-US" b="true" sz="4102" spc="-287" strike="noStrike" u="none">
                <a:solidFill>
                  <a:srgbClr val="364FAB"/>
                </a:solidFill>
                <a:latin typeface="Garet Heavy"/>
                <a:ea typeface="Garet Heavy"/>
                <a:cs typeface="Garet Heavy"/>
                <a:sym typeface="Garet Heavy"/>
              </a:rPr>
              <a:t>M</a:t>
            </a:r>
            <a:r>
              <a:rPr lang="en-US" b="true" sz="4102" spc="-287" strike="noStrike" u="none">
                <a:solidFill>
                  <a:srgbClr val="364FAB"/>
                </a:solidFill>
                <a:latin typeface="Garet Heavy"/>
                <a:ea typeface="Garet Heavy"/>
                <a:cs typeface="Garet Heavy"/>
                <a:sym typeface="Garet Heavy"/>
              </a:rPr>
              <a:t>e</a:t>
            </a:r>
            <a:r>
              <a:rPr lang="en-US" b="true" sz="4102" spc="-287" strike="noStrike" u="none">
                <a:solidFill>
                  <a:srgbClr val="364FAB"/>
                </a:solidFill>
                <a:latin typeface="Garet Heavy"/>
                <a:ea typeface="Garet Heavy"/>
                <a:cs typeface="Garet Heavy"/>
                <a:sym typeface="Garet Heavy"/>
              </a:rPr>
              <a:t>tric</a:t>
            </a:r>
            <a:r>
              <a:rPr lang="en-US" b="true" sz="4102" spc="-287" strike="noStrike" u="none">
                <a:solidFill>
                  <a:srgbClr val="364FAB"/>
                </a:solidFill>
                <a:latin typeface="Garet Heavy"/>
                <a:ea typeface="Garet Heavy"/>
                <a:cs typeface="Garet Heavy"/>
                <a:sym typeface="Garet Heavy"/>
              </a:rPr>
              <a:t>s: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31425" y="3457674"/>
            <a:ext cx="5788860" cy="2513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799">
                <a:solidFill>
                  <a:srgbClr val="26323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Accuracy: 94%</a:t>
            </a:r>
          </a:p>
          <a:p>
            <a:pPr algn="l">
              <a:lnSpc>
                <a:spcPts val="3359"/>
              </a:lnSpc>
            </a:pPr>
            <a:r>
              <a:rPr lang="en-US" b="true" sz="2799">
                <a:solidFill>
                  <a:srgbClr val="26323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Precision: 67%</a:t>
            </a:r>
          </a:p>
          <a:p>
            <a:pPr algn="l">
              <a:lnSpc>
                <a:spcPts val="3359"/>
              </a:lnSpc>
            </a:pPr>
            <a:r>
              <a:rPr lang="en-US" b="true" sz="2799">
                <a:solidFill>
                  <a:srgbClr val="FF032D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Recall: 73% ← Most Important</a:t>
            </a:r>
          </a:p>
          <a:p>
            <a:pPr algn="l">
              <a:lnSpc>
                <a:spcPts val="3359"/>
              </a:lnSpc>
            </a:pPr>
            <a:r>
              <a:rPr lang="en-US" b="true" sz="2799">
                <a:solidFill>
                  <a:srgbClr val="26323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F1-Score: 70%</a:t>
            </a:r>
          </a:p>
          <a:p>
            <a:pPr algn="l">
              <a:lnSpc>
                <a:spcPts val="3359"/>
              </a:lnSpc>
            </a:pPr>
            <a:r>
              <a:rPr lang="en-US" b="true" sz="2799">
                <a:solidFill>
                  <a:srgbClr val="26323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ROC-AUC: 96%</a:t>
            </a:r>
          </a:p>
          <a:p>
            <a:pPr algn="l">
              <a:lnSpc>
                <a:spcPts val="3359"/>
              </a:lnSpc>
            </a:pPr>
            <a:r>
              <a:rPr lang="en-US" b="true" sz="2799">
                <a:solidFill>
                  <a:srgbClr val="26323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PR-AUC: 78%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606043" y="3982484"/>
            <a:ext cx="4576922" cy="440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076"/>
              </a:lnSpc>
              <a:spcBef>
                <a:spcPct val="0"/>
              </a:spcBef>
            </a:pPr>
            <a:r>
              <a:rPr lang="en-US" b="true" sz="4102" spc="-287">
                <a:solidFill>
                  <a:srgbClr val="364FAB"/>
                </a:solidFill>
                <a:latin typeface="Garet Heavy"/>
                <a:ea typeface="Garet Heavy"/>
                <a:cs typeface="Garet Heavy"/>
                <a:sym typeface="Garet Heavy"/>
              </a:rPr>
              <a:t>Confusi</a:t>
            </a:r>
            <a:r>
              <a:rPr lang="en-US" b="true" sz="4102" spc="-287" strike="noStrike" u="none">
                <a:solidFill>
                  <a:srgbClr val="364FAB"/>
                </a:solidFill>
                <a:latin typeface="Garet Heavy"/>
                <a:ea typeface="Garet Heavy"/>
                <a:cs typeface="Garet Heavy"/>
                <a:sym typeface="Garet Heavy"/>
              </a:rPr>
              <a:t>on M</a:t>
            </a:r>
            <a:r>
              <a:rPr lang="en-US" b="true" sz="4102" spc="-287" strike="noStrike" u="none">
                <a:solidFill>
                  <a:srgbClr val="364FAB"/>
                </a:solidFill>
                <a:latin typeface="Garet Heavy"/>
                <a:ea typeface="Garet Heavy"/>
                <a:cs typeface="Garet Heavy"/>
                <a:sym typeface="Garet Heavy"/>
              </a:rPr>
              <a:t>a</a:t>
            </a:r>
            <a:r>
              <a:rPr lang="en-US" b="true" sz="4102" spc="-287" strike="noStrike" u="none">
                <a:solidFill>
                  <a:srgbClr val="364FAB"/>
                </a:solidFill>
                <a:latin typeface="Garet Heavy"/>
                <a:ea typeface="Garet Heavy"/>
                <a:cs typeface="Garet Heavy"/>
                <a:sym typeface="Garet Heavy"/>
              </a:rPr>
              <a:t>tri</a:t>
            </a:r>
            <a:r>
              <a:rPr lang="en-US" b="true" sz="4102" spc="-287" strike="noStrike" u="none">
                <a:solidFill>
                  <a:srgbClr val="364FAB"/>
                </a:solidFill>
                <a:latin typeface="Garet Heavy"/>
                <a:ea typeface="Garet Heavy"/>
                <a:cs typeface="Garet Heavy"/>
                <a:sym typeface="Garet Heavy"/>
              </a:rPr>
              <a:t>x</a:t>
            </a:r>
            <a:r>
              <a:rPr lang="en-US" b="true" sz="4102" spc="-287" strike="noStrike" u="none">
                <a:solidFill>
                  <a:srgbClr val="364FAB"/>
                </a:solidFill>
                <a:latin typeface="Garet Heavy"/>
                <a:ea typeface="Garet Heavy"/>
                <a:cs typeface="Garet Heavy"/>
                <a:sym typeface="Garet Heavy"/>
              </a:rPr>
              <a:t>: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40000" y="1455600"/>
            <a:ext cx="9691918" cy="456919"/>
            <a:chOff x="0" y="0"/>
            <a:chExt cx="15408000" cy="72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08021" cy="726440"/>
            </a:xfrm>
            <a:custGeom>
              <a:avLst/>
              <a:gdLst/>
              <a:ahLst/>
              <a:cxnLst/>
              <a:rect r="r" b="b" t="t" l="l"/>
              <a:pathLst>
                <a:path h="726440" w="15408021">
                  <a:moveTo>
                    <a:pt x="0" y="363220"/>
                  </a:moveTo>
                  <a:cubicBezTo>
                    <a:pt x="0" y="162560"/>
                    <a:pt x="162560" y="0"/>
                    <a:pt x="363220" y="0"/>
                  </a:cubicBezTo>
                  <a:lnTo>
                    <a:pt x="15044801" y="0"/>
                  </a:lnTo>
                  <a:cubicBezTo>
                    <a:pt x="15245335" y="0"/>
                    <a:pt x="15408021" y="162560"/>
                    <a:pt x="15408021" y="363220"/>
                  </a:cubicBezTo>
                  <a:cubicBezTo>
                    <a:pt x="15408021" y="563880"/>
                    <a:pt x="15245462" y="726440"/>
                    <a:pt x="15044801" y="726440"/>
                  </a:cubicBezTo>
                  <a:lnTo>
                    <a:pt x="363220" y="726440"/>
                  </a:lnTo>
                  <a:cubicBezTo>
                    <a:pt x="162560" y="726440"/>
                    <a:pt x="0" y="563753"/>
                    <a:pt x="0" y="363220"/>
                  </a:cubicBezTo>
                  <a:close/>
                </a:path>
              </a:pathLst>
            </a:custGeom>
            <a:solidFill>
              <a:srgbClr val="C7E7F9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4919400" y="-3139027"/>
            <a:ext cx="7114112" cy="8908817"/>
          </a:xfrm>
          <a:custGeom>
            <a:avLst/>
            <a:gdLst/>
            <a:ahLst/>
            <a:cxnLst/>
            <a:rect r="r" b="b" t="t" l="l"/>
            <a:pathLst>
              <a:path h="8908817" w="7114112">
                <a:moveTo>
                  <a:pt x="0" y="0"/>
                </a:moveTo>
                <a:lnTo>
                  <a:pt x="7114112" y="0"/>
                </a:lnTo>
                <a:lnTo>
                  <a:pt x="7114112" y="8908817"/>
                </a:lnTo>
                <a:lnTo>
                  <a:pt x="0" y="89088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669481" y="375673"/>
            <a:ext cx="1950970" cy="1950970"/>
          </a:xfrm>
          <a:custGeom>
            <a:avLst/>
            <a:gdLst/>
            <a:ahLst/>
            <a:cxnLst/>
            <a:rect r="r" b="b" t="t" l="l"/>
            <a:pathLst>
              <a:path h="1950970" w="1950970">
                <a:moveTo>
                  <a:pt x="0" y="0"/>
                </a:moveTo>
                <a:lnTo>
                  <a:pt x="1950970" y="0"/>
                </a:lnTo>
                <a:lnTo>
                  <a:pt x="1950970" y="1950970"/>
                </a:lnTo>
                <a:lnTo>
                  <a:pt x="0" y="19509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31425" y="866625"/>
            <a:ext cx="7138056" cy="969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6400">
                <a:solidFill>
                  <a:srgbClr val="263238"/>
                </a:solidFill>
                <a:latin typeface="Lulu Font TH"/>
                <a:ea typeface="Lulu Font TH"/>
                <a:cs typeface="Lulu Font TH"/>
                <a:sym typeface="Lulu Font TH"/>
              </a:rPr>
              <a:t>FINANCIAL ANALYSIS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32733" y="6129879"/>
            <a:ext cx="6395210" cy="480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076"/>
              </a:lnSpc>
              <a:spcBef>
                <a:spcPct val="0"/>
              </a:spcBef>
            </a:pPr>
            <a:r>
              <a:rPr lang="en-US" b="true" sz="4102" spc="-287">
                <a:solidFill>
                  <a:srgbClr val="364FAB"/>
                </a:solidFill>
                <a:latin typeface="Poppins Heavy"/>
                <a:ea typeface="Poppins Heavy"/>
                <a:cs typeface="Poppins Heavy"/>
                <a:sym typeface="Poppins Heavy"/>
              </a:rPr>
              <a:t>Financial Impac</a:t>
            </a:r>
            <a:r>
              <a:rPr lang="en-US" b="true" sz="4102" spc="-287" strike="noStrike" u="none">
                <a:solidFill>
                  <a:srgbClr val="364FAB"/>
                </a:solidFill>
                <a:latin typeface="Poppins Heavy"/>
                <a:ea typeface="Poppins Heavy"/>
                <a:cs typeface="Poppins Heavy"/>
                <a:sym typeface="Poppins Heavy"/>
              </a:rPr>
              <a:t>t Analysis: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32733" y="6746837"/>
            <a:ext cx="7634153" cy="2099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b="true" sz="2799">
                <a:solidFill>
                  <a:srgbClr val="26323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Inv</a:t>
            </a:r>
            <a:r>
              <a:rPr lang="en-US" b="true" sz="2799">
                <a:solidFill>
                  <a:srgbClr val="26323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estigation cost (TP + FP): $550,000  </a:t>
            </a: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b="true" sz="2799">
                <a:solidFill>
                  <a:srgbClr val="26323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Fraud cost saved (detected fraud): $7,400,000  </a:t>
            </a: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b="true" sz="2799">
                <a:solidFill>
                  <a:srgbClr val="26323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Cost of missed fraud (FN): $2,700,000  </a:t>
            </a: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b="true" sz="2799">
                <a:solidFill>
                  <a:srgbClr val="26323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Net savings: $4,150,000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32733" y="3577739"/>
            <a:ext cx="6592569" cy="1270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Total providers in test set: 1082</a:t>
            </a: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Actual fraudulent providers: 101</a:t>
            </a: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Detected fraudulent providers: 74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32733" y="3125463"/>
            <a:ext cx="8308751" cy="480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076"/>
              </a:lnSpc>
              <a:spcBef>
                <a:spcPct val="0"/>
              </a:spcBef>
            </a:pPr>
            <a:r>
              <a:rPr lang="en-US" b="true" sz="4102" spc="-287">
                <a:solidFill>
                  <a:srgbClr val="364FAB"/>
                </a:solidFill>
                <a:latin typeface="Poppins Heavy"/>
                <a:ea typeface="Poppins Heavy"/>
                <a:cs typeface="Poppins Heavy"/>
                <a:sym typeface="Poppins Heavy"/>
              </a:rPr>
              <a:t>Bu</a:t>
            </a:r>
            <a:r>
              <a:rPr lang="en-US" b="true" sz="4102" spc="-287" strike="noStrike" u="none">
                <a:solidFill>
                  <a:srgbClr val="364FAB"/>
                </a:solidFill>
                <a:latin typeface="Poppins Heavy"/>
                <a:ea typeface="Poppins Heavy"/>
                <a:cs typeface="Poppins Heavy"/>
                <a:sym typeface="Poppins Heavy"/>
              </a:rPr>
              <a:t>siness Metrics Based on</a:t>
            </a:r>
            <a:r>
              <a:rPr lang="en-US" b="true" sz="4102" spc="-287" strike="noStrike" u="none">
                <a:solidFill>
                  <a:srgbClr val="364FAB"/>
                </a:solidFill>
                <a:latin typeface="Poppins Heavy"/>
                <a:ea typeface="Poppins Heavy"/>
                <a:cs typeface="Poppins Heavy"/>
                <a:sym typeface="Poppins Heavy"/>
              </a:rPr>
              <a:t> Te</a:t>
            </a:r>
            <a:r>
              <a:rPr lang="en-US" b="true" sz="4102" spc="-287" strike="noStrike" u="none">
                <a:solidFill>
                  <a:srgbClr val="364FAB"/>
                </a:solidFill>
                <a:latin typeface="Poppins Heavy"/>
                <a:ea typeface="Poppins Heavy"/>
                <a:cs typeface="Poppins Heavy"/>
                <a:sym typeface="Poppins Heavy"/>
              </a:rPr>
              <a:t>st Set: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644966" y="3052785"/>
            <a:ext cx="5408414" cy="480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076"/>
              </a:lnSpc>
              <a:spcBef>
                <a:spcPct val="0"/>
              </a:spcBef>
            </a:pPr>
            <a:r>
              <a:rPr lang="en-US" b="true" sz="4102" spc="-287">
                <a:solidFill>
                  <a:srgbClr val="364FAB"/>
                </a:solidFill>
                <a:latin typeface="Poppins Heavy"/>
                <a:ea typeface="Poppins Heavy"/>
                <a:cs typeface="Poppins Heavy"/>
                <a:sym typeface="Poppins Heavy"/>
              </a:rPr>
              <a:t>Operational Efficie</a:t>
            </a:r>
            <a:r>
              <a:rPr lang="en-US" b="true" sz="4102" spc="-287" strike="noStrike" u="none">
                <a:solidFill>
                  <a:srgbClr val="364FAB"/>
                </a:solidFill>
                <a:latin typeface="Poppins Heavy"/>
                <a:ea typeface="Poppins Heavy"/>
                <a:cs typeface="Poppins Heavy"/>
                <a:sym typeface="Poppins Heavy"/>
              </a:rPr>
              <a:t>ncy: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644966" y="3682033"/>
            <a:ext cx="8437567" cy="1685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Detection rate: 74/101 (73.3%)  </a:t>
            </a: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False positive rate: 36/981 (3.7%) </a:t>
            </a: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Investigation efficiency: 67.3% of investigations uncover fraud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766953" y="5981001"/>
            <a:ext cx="7492347" cy="1029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56"/>
              </a:lnSpc>
            </a:pPr>
            <a:r>
              <a:rPr lang="en-US" b="true" sz="4102" spc="-287">
                <a:solidFill>
                  <a:srgbClr val="364FAB"/>
                </a:solidFill>
                <a:latin typeface="Poppins Heavy"/>
                <a:ea typeface="Poppins Heavy"/>
                <a:cs typeface="Poppins Heavy"/>
                <a:sym typeface="Poppins Heavy"/>
              </a:rPr>
              <a:t>Performance at  </a:t>
            </a:r>
          </a:p>
          <a:p>
            <a:pPr algn="just" marL="0" indent="0" lvl="0">
              <a:lnSpc>
                <a:spcPts val="3856"/>
              </a:lnSpc>
            </a:pPr>
            <a:r>
              <a:rPr lang="en-US" b="true" sz="4102" spc="-287">
                <a:solidFill>
                  <a:srgbClr val="364FAB"/>
                </a:solidFill>
                <a:latin typeface="Poppins Heavy"/>
                <a:ea typeface="Poppins Heavy"/>
                <a:cs typeface="Poppins Heavy"/>
                <a:sym typeface="Poppins Heavy"/>
              </a:rPr>
              <a:t>Differe</a:t>
            </a:r>
            <a:r>
              <a:rPr lang="en-US" b="true" sz="4102" spc="-287" strike="noStrike" u="none">
                <a:solidFill>
                  <a:srgbClr val="364FAB"/>
                </a:solidFill>
                <a:latin typeface="Poppins Heavy"/>
                <a:ea typeface="Poppins Heavy"/>
                <a:cs typeface="Poppins Heavy"/>
                <a:sym typeface="Poppins Heavy"/>
              </a:rPr>
              <a:t>nt Decision  Thresholds: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644966" y="6981990"/>
            <a:ext cx="7460766" cy="2513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Threshold 0.5: Precision=0.673, Recall=0.733, TP=74, FP=36, FN=27  </a:t>
            </a: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Threshold 0.6: Precision=0.761, Recall=0.663, TP=67, FP=21, FN=34  </a:t>
            </a: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Threshold 0.7: Precision=0.822, Recall=0.594, TP=60, FP=13, FN=41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547141" y="-865501"/>
            <a:ext cx="17475023" cy="13238360"/>
          </a:xfrm>
          <a:custGeom>
            <a:avLst/>
            <a:gdLst/>
            <a:ahLst/>
            <a:cxnLst/>
            <a:rect r="r" b="b" t="t" l="l"/>
            <a:pathLst>
              <a:path h="13238360" w="17475023">
                <a:moveTo>
                  <a:pt x="0" y="0"/>
                </a:moveTo>
                <a:lnTo>
                  <a:pt x="17475024" y="0"/>
                </a:lnTo>
                <a:lnTo>
                  <a:pt x="17475024" y="13238359"/>
                </a:lnTo>
                <a:lnTo>
                  <a:pt x="0" y="132383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905630" y="5101999"/>
            <a:ext cx="8471119" cy="651680"/>
            <a:chOff x="0" y="0"/>
            <a:chExt cx="9442400" cy="726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442450" cy="726440"/>
            </a:xfrm>
            <a:custGeom>
              <a:avLst/>
              <a:gdLst/>
              <a:ahLst/>
              <a:cxnLst/>
              <a:rect r="r" b="b" t="t" l="l"/>
              <a:pathLst>
                <a:path h="726440" w="9442450">
                  <a:moveTo>
                    <a:pt x="0" y="363220"/>
                  </a:moveTo>
                  <a:cubicBezTo>
                    <a:pt x="0" y="162560"/>
                    <a:pt x="162560" y="0"/>
                    <a:pt x="363220" y="0"/>
                  </a:cubicBezTo>
                  <a:lnTo>
                    <a:pt x="9079230" y="0"/>
                  </a:lnTo>
                  <a:cubicBezTo>
                    <a:pt x="9279763" y="0"/>
                    <a:pt x="9442450" y="162560"/>
                    <a:pt x="9442450" y="363220"/>
                  </a:cubicBezTo>
                  <a:cubicBezTo>
                    <a:pt x="9442450" y="563880"/>
                    <a:pt x="9279890" y="726440"/>
                    <a:pt x="9079230" y="726440"/>
                  </a:cubicBezTo>
                  <a:lnTo>
                    <a:pt x="363220" y="726440"/>
                  </a:lnTo>
                  <a:cubicBezTo>
                    <a:pt x="162560" y="726440"/>
                    <a:pt x="0" y="563753"/>
                    <a:pt x="0" y="363220"/>
                  </a:cubicBezTo>
                  <a:close/>
                </a:path>
              </a:pathLst>
            </a:custGeom>
            <a:solidFill>
              <a:srgbClr val="C7E7F9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7700365" y="2735437"/>
            <a:ext cx="8676384" cy="4057927"/>
            <a:chOff x="0" y="0"/>
            <a:chExt cx="9671200" cy="4523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671200" cy="4523200"/>
            </a:xfrm>
            <a:custGeom>
              <a:avLst/>
              <a:gdLst/>
              <a:ahLst/>
              <a:cxnLst/>
              <a:rect r="r" b="b" t="t" l="l"/>
              <a:pathLst>
                <a:path h="4523200" w="9671200">
                  <a:moveTo>
                    <a:pt x="0" y="0"/>
                  </a:moveTo>
                  <a:lnTo>
                    <a:pt x="9671200" y="0"/>
                  </a:lnTo>
                  <a:lnTo>
                    <a:pt x="9671200" y="4523200"/>
                  </a:lnTo>
                  <a:lnTo>
                    <a:pt x="0" y="45232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9671200" cy="4523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3079"/>
                </a:lnSpc>
              </a:pPr>
              <a:r>
                <a:rPr lang="en-US" sz="10899">
                  <a:solidFill>
                    <a:srgbClr val="263238"/>
                  </a:solidFill>
                  <a:latin typeface="Lulu Font TH"/>
                  <a:ea typeface="Lulu Font TH"/>
                  <a:cs typeface="Lulu Font TH"/>
                  <a:sym typeface="Lulu Font TH"/>
                </a:rPr>
                <a:t>THANK YOU!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4646053" y="649600"/>
            <a:ext cx="2544318" cy="8229600"/>
          </a:xfrm>
          <a:custGeom>
            <a:avLst/>
            <a:gdLst/>
            <a:ahLst/>
            <a:cxnLst/>
            <a:rect r="r" b="b" t="t" l="l"/>
            <a:pathLst>
              <a:path h="8229600" w="2544318">
                <a:moveTo>
                  <a:pt x="0" y="0"/>
                </a:moveTo>
                <a:lnTo>
                  <a:pt x="2544318" y="0"/>
                </a:lnTo>
                <a:lnTo>
                  <a:pt x="254431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DAG6evMYa7A</dc:identifier>
  <dcterms:modified xsi:type="dcterms:W3CDTF">2011-08-01T06:04:30Z</dcterms:modified>
  <cp:revision>1</cp:revision>
  <dc:title>Robotic Workshop</dc:title>
</cp:coreProperties>
</file>